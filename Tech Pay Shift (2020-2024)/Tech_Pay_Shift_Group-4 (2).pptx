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74" r:id="rId6"/>
    <p:sldId id="276" r:id="rId7"/>
    <p:sldId id="277" r:id="rId8"/>
    <p:sldId id="275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2"/>
  </p:normalViewPr>
  <p:slideViewPr>
    <p:cSldViewPr snapToGrid="0" snapToObjects="1">
      <p:cViewPr varScale="1">
        <p:scale>
          <a:sx n="114" d="100"/>
          <a:sy n="114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D62FEC-D705-4403-BDDB-BFAD56B261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59B18F-4065-4599-BA80-7AD69BC98208}">
      <dgm:prSet/>
      <dgm:spPr/>
      <dgm:t>
        <a:bodyPr/>
        <a:lstStyle/>
        <a:p>
          <a:r>
            <a:rPr lang="en-US" b="0" i="0" baseline="0"/>
            <a:t>How did the rapid expansion of remote work structurally reshape global tech compensation between 2020–2024? </a:t>
          </a:r>
          <a:endParaRPr lang="en-US"/>
        </a:p>
      </dgm:t>
    </dgm:pt>
    <dgm:pt modelId="{2403F88A-160B-4ABF-AF00-D732E31CD8F9}" type="parTrans" cxnId="{2E537008-2C16-4D7B-BE86-2905238E166D}">
      <dgm:prSet/>
      <dgm:spPr/>
      <dgm:t>
        <a:bodyPr/>
        <a:lstStyle/>
        <a:p>
          <a:endParaRPr lang="en-US"/>
        </a:p>
      </dgm:t>
    </dgm:pt>
    <dgm:pt modelId="{AFAC8F22-DD7A-4A9E-B43E-88A475F4FFB4}" type="sibTrans" cxnId="{2E537008-2C16-4D7B-BE86-2905238E166D}">
      <dgm:prSet/>
      <dgm:spPr/>
      <dgm:t>
        <a:bodyPr/>
        <a:lstStyle/>
        <a:p>
          <a:endParaRPr lang="en-US"/>
        </a:p>
      </dgm:t>
    </dgm:pt>
    <dgm:pt modelId="{4CBDA39B-950F-4184-83BF-9E5B4B3DD493}">
      <dgm:prSet/>
      <dgm:spPr/>
      <dgm:t>
        <a:bodyPr/>
        <a:lstStyle/>
        <a:p>
          <a:r>
            <a:rPr lang="en-US" b="0" i="0" baseline="0"/>
            <a:t>Is salary growth homogeneous across roles and geographies, or does it exhibit structural divergence? </a:t>
          </a:r>
          <a:endParaRPr lang="en-US"/>
        </a:p>
      </dgm:t>
    </dgm:pt>
    <dgm:pt modelId="{F6A0022D-FDD3-4B84-86CB-8366F1882F59}" type="parTrans" cxnId="{D7CE17DE-DC6F-44CE-A956-F49584CBA956}">
      <dgm:prSet/>
      <dgm:spPr/>
      <dgm:t>
        <a:bodyPr/>
        <a:lstStyle/>
        <a:p>
          <a:endParaRPr lang="en-US"/>
        </a:p>
      </dgm:t>
    </dgm:pt>
    <dgm:pt modelId="{2FF4D146-FBB6-474D-A503-25B8D862C2C0}" type="sibTrans" cxnId="{D7CE17DE-DC6F-44CE-A956-F49584CBA956}">
      <dgm:prSet/>
      <dgm:spPr/>
      <dgm:t>
        <a:bodyPr/>
        <a:lstStyle/>
        <a:p>
          <a:endParaRPr lang="en-US"/>
        </a:p>
      </dgm:t>
    </dgm:pt>
    <dgm:pt modelId="{5C5362E4-EF95-4D43-BD02-69712C869190}">
      <dgm:prSet/>
      <dgm:spPr/>
      <dgm:t>
        <a:bodyPr/>
        <a:lstStyle/>
        <a:p>
          <a:r>
            <a:rPr lang="en-US" b="0" i="0" baseline="0"/>
            <a:t>Does remote work enable cross-border purchasing power arbitrage by decoupling compensation from local GDP baselines? </a:t>
          </a:r>
          <a:endParaRPr lang="en-US"/>
        </a:p>
      </dgm:t>
    </dgm:pt>
    <dgm:pt modelId="{27F65A5D-D189-4CE4-8D3B-F7E2B5FD585E}" type="parTrans" cxnId="{9E7F8F59-4478-438F-9607-CBF948F44C86}">
      <dgm:prSet/>
      <dgm:spPr/>
      <dgm:t>
        <a:bodyPr/>
        <a:lstStyle/>
        <a:p>
          <a:endParaRPr lang="en-US"/>
        </a:p>
      </dgm:t>
    </dgm:pt>
    <dgm:pt modelId="{046B6095-BFF8-4620-B123-D1F146C63D34}" type="sibTrans" cxnId="{9E7F8F59-4478-438F-9607-CBF948F44C86}">
      <dgm:prSet/>
      <dgm:spPr/>
      <dgm:t>
        <a:bodyPr/>
        <a:lstStyle/>
        <a:p>
          <a:endParaRPr lang="en-US"/>
        </a:p>
      </dgm:t>
    </dgm:pt>
    <dgm:pt modelId="{738D4CDE-8FE3-439A-8D80-9F6617A3073A}">
      <dgm:prSet/>
      <dgm:spPr/>
      <dgm:t>
        <a:bodyPr/>
        <a:lstStyle/>
        <a:p>
          <a:r>
            <a:rPr lang="en-US" b="0" i="0" baseline="0"/>
            <a:t>Why must we move beyond averages and examine full distributional shifts to understand labor-market transformation?</a:t>
          </a:r>
          <a:endParaRPr lang="en-US"/>
        </a:p>
      </dgm:t>
    </dgm:pt>
    <dgm:pt modelId="{9988BBA0-F3E6-4AEC-A133-7EB12AAC4BDF}" type="parTrans" cxnId="{6CA7D4ED-4617-4068-8779-8A2FE8C4DCCF}">
      <dgm:prSet/>
      <dgm:spPr/>
      <dgm:t>
        <a:bodyPr/>
        <a:lstStyle/>
        <a:p>
          <a:endParaRPr lang="en-US"/>
        </a:p>
      </dgm:t>
    </dgm:pt>
    <dgm:pt modelId="{F8A69C5E-7085-4CB8-9266-88BE6C275A5C}" type="sibTrans" cxnId="{6CA7D4ED-4617-4068-8779-8A2FE8C4DCCF}">
      <dgm:prSet/>
      <dgm:spPr/>
      <dgm:t>
        <a:bodyPr/>
        <a:lstStyle/>
        <a:p>
          <a:endParaRPr lang="en-US"/>
        </a:p>
      </dgm:t>
    </dgm:pt>
    <dgm:pt modelId="{51B1D1E8-5FF8-524B-B397-77D7479F84B4}" type="pres">
      <dgm:prSet presAssocID="{8FD62FEC-D705-4403-BDDB-BFAD56B2617C}" presName="linear" presStyleCnt="0">
        <dgm:presLayoutVars>
          <dgm:animLvl val="lvl"/>
          <dgm:resizeHandles val="exact"/>
        </dgm:presLayoutVars>
      </dgm:prSet>
      <dgm:spPr/>
    </dgm:pt>
    <dgm:pt modelId="{A625DE5F-C80B-0743-A738-75F8B9B6E98D}" type="pres">
      <dgm:prSet presAssocID="{7759B18F-4065-4599-BA80-7AD69BC982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3A4CB03-E931-F547-A374-E517A8EE2541}" type="pres">
      <dgm:prSet presAssocID="{AFAC8F22-DD7A-4A9E-B43E-88A475F4FFB4}" presName="spacer" presStyleCnt="0"/>
      <dgm:spPr/>
    </dgm:pt>
    <dgm:pt modelId="{5385A5E3-E1F0-254F-A825-0176E4ADD3C3}" type="pres">
      <dgm:prSet presAssocID="{4CBDA39B-950F-4184-83BF-9E5B4B3DD4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64E186-A7B1-DA49-A884-F3D84C89826E}" type="pres">
      <dgm:prSet presAssocID="{2FF4D146-FBB6-474D-A503-25B8D862C2C0}" presName="spacer" presStyleCnt="0"/>
      <dgm:spPr/>
    </dgm:pt>
    <dgm:pt modelId="{D4113DA3-F7FD-024B-9BF1-BA414AE48F51}" type="pres">
      <dgm:prSet presAssocID="{5C5362E4-EF95-4D43-BD02-69712C8691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AF19A72-1691-3140-B546-F3C62ED23ED1}" type="pres">
      <dgm:prSet presAssocID="{046B6095-BFF8-4620-B123-D1F146C63D34}" presName="spacer" presStyleCnt="0"/>
      <dgm:spPr/>
    </dgm:pt>
    <dgm:pt modelId="{81572A93-78D6-5542-A263-90A22BE302C1}" type="pres">
      <dgm:prSet presAssocID="{738D4CDE-8FE3-439A-8D80-9F6617A307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537008-2C16-4D7B-BE86-2905238E166D}" srcId="{8FD62FEC-D705-4403-BDDB-BFAD56B2617C}" destId="{7759B18F-4065-4599-BA80-7AD69BC98208}" srcOrd="0" destOrd="0" parTransId="{2403F88A-160B-4ABF-AF00-D732E31CD8F9}" sibTransId="{AFAC8F22-DD7A-4A9E-B43E-88A475F4FFB4}"/>
    <dgm:cxn modelId="{54EE7C16-743A-D647-9476-3AAAAF87BCDC}" type="presOf" srcId="{738D4CDE-8FE3-439A-8D80-9F6617A3073A}" destId="{81572A93-78D6-5542-A263-90A22BE302C1}" srcOrd="0" destOrd="0" presId="urn:microsoft.com/office/officeart/2005/8/layout/vList2"/>
    <dgm:cxn modelId="{B0E4BE3E-35F9-E043-A3FE-7DCA37CB187C}" type="presOf" srcId="{8FD62FEC-D705-4403-BDDB-BFAD56B2617C}" destId="{51B1D1E8-5FF8-524B-B397-77D7479F84B4}" srcOrd="0" destOrd="0" presId="urn:microsoft.com/office/officeart/2005/8/layout/vList2"/>
    <dgm:cxn modelId="{9E7F8F59-4478-438F-9607-CBF948F44C86}" srcId="{8FD62FEC-D705-4403-BDDB-BFAD56B2617C}" destId="{5C5362E4-EF95-4D43-BD02-69712C869190}" srcOrd="2" destOrd="0" parTransId="{27F65A5D-D189-4CE4-8D3B-F7E2B5FD585E}" sibTransId="{046B6095-BFF8-4620-B123-D1F146C63D34}"/>
    <dgm:cxn modelId="{FB73F578-B5C7-9E48-8BE8-B1737E499B8B}" type="presOf" srcId="{5C5362E4-EF95-4D43-BD02-69712C869190}" destId="{D4113DA3-F7FD-024B-9BF1-BA414AE48F51}" srcOrd="0" destOrd="0" presId="urn:microsoft.com/office/officeart/2005/8/layout/vList2"/>
    <dgm:cxn modelId="{655BACB0-BEED-F548-BDEB-81D97BD63F0C}" type="presOf" srcId="{7759B18F-4065-4599-BA80-7AD69BC98208}" destId="{A625DE5F-C80B-0743-A738-75F8B9B6E98D}" srcOrd="0" destOrd="0" presId="urn:microsoft.com/office/officeart/2005/8/layout/vList2"/>
    <dgm:cxn modelId="{CB1B8EC4-194B-3645-BA2F-85C2A0261F00}" type="presOf" srcId="{4CBDA39B-950F-4184-83BF-9E5B4B3DD493}" destId="{5385A5E3-E1F0-254F-A825-0176E4ADD3C3}" srcOrd="0" destOrd="0" presId="urn:microsoft.com/office/officeart/2005/8/layout/vList2"/>
    <dgm:cxn modelId="{D7CE17DE-DC6F-44CE-A956-F49584CBA956}" srcId="{8FD62FEC-D705-4403-BDDB-BFAD56B2617C}" destId="{4CBDA39B-950F-4184-83BF-9E5B4B3DD493}" srcOrd="1" destOrd="0" parTransId="{F6A0022D-FDD3-4B84-86CB-8366F1882F59}" sibTransId="{2FF4D146-FBB6-474D-A503-25B8D862C2C0}"/>
    <dgm:cxn modelId="{6CA7D4ED-4617-4068-8779-8A2FE8C4DCCF}" srcId="{8FD62FEC-D705-4403-BDDB-BFAD56B2617C}" destId="{738D4CDE-8FE3-439A-8D80-9F6617A3073A}" srcOrd="3" destOrd="0" parTransId="{9988BBA0-F3E6-4AEC-A133-7EB12AAC4BDF}" sibTransId="{F8A69C5E-7085-4CB8-9266-88BE6C275A5C}"/>
    <dgm:cxn modelId="{0A6EE2C1-C63B-2740-9938-83483AF05C38}" type="presParOf" srcId="{51B1D1E8-5FF8-524B-B397-77D7479F84B4}" destId="{A625DE5F-C80B-0743-A738-75F8B9B6E98D}" srcOrd="0" destOrd="0" presId="urn:microsoft.com/office/officeart/2005/8/layout/vList2"/>
    <dgm:cxn modelId="{13AF2098-91B1-CB45-ABB2-61F5405B916F}" type="presParOf" srcId="{51B1D1E8-5FF8-524B-B397-77D7479F84B4}" destId="{63A4CB03-E931-F547-A374-E517A8EE2541}" srcOrd="1" destOrd="0" presId="urn:microsoft.com/office/officeart/2005/8/layout/vList2"/>
    <dgm:cxn modelId="{D9F96127-4E5C-DB4B-9A08-A48B692E1806}" type="presParOf" srcId="{51B1D1E8-5FF8-524B-B397-77D7479F84B4}" destId="{5385A5E3-E1F0-254F-A825-0176E4ADD3C3}" srcOrd="2" destOrd="0" presId="urn:microsoft.com/office/officeart/2005/8/layout/vList2"/>
    <dgm:cxn modelId="{4800682F-18B4-D14F-B580-22B9A8AAF599}" type="presParOf" srcId="{51B1D1E8-5FF8-524B-B397-77D7479F84B4}" destId="{6064E186-A7B1-DA49-A884-F3D84C89826E}" srcOrd="3" destOrd="0" presId="urn:microsoft.com/office/officeart/2005/8/layout/vList2"/>
    <dgm:cxn modelId="{4BAB4C32-CDBC-4F4F-AD2C-247A111C1FC8}" type="presParOf" srcId="{51B1D1E8-5FF8-524B-B397-77D7479F84B4}" destId="{D4113DA3-F7FD-024B-9BF1-BA414AE48F51}" srcOrd="4" destOrd="0" presId="urn:microsoft.com/office/officeart/2005/8/layout/vList2"/>
    <dgm:cxn modelId="{9BE5E83D-25EE-1D45-A723-0335219FA673}" type="presParOf" srcId="{51B1D1E8-5FF8-524B-B397-77D7479F84B4}" destId="{9AF19A72-1691-3140-B546-F3C62ED23ED1}" srcOrd="5" destOrd="0" presId="urn:microsoft.com/office/officeart/2005/8/layout/vList2"/>
    <dgm:cxn modelId="{54480263-289E-9545-82AF-0BF1FA2B9830}" type="presParOf" srcId="{51B1D1E8-5FF8-524B-B397-77D7479F84B4}" destId="{81572A93-78D6-5542-A263-90A22BE302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8A5E85-7091-468C-828F-F02882757E66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6A79691-2A5C-4576-8ED6-0AABD092F1A2}">
      <dgm:prSet/>
      <dgm:spPr/>
      <dgm:t>
        <a:bodyPr/>
        <a:lstStyle/>
        <a:p>
          <a:r>
            <a:rPr lang="en-US"/>
            <a:t>Integrated </a:t>
          </a:r>
          <a:r>
            <a:rPr lang="en-US" b="1"/>
            <a:t>micro-level salary data</a:t>
          </a:r>
          <a:r>
            <a:rPr lang="en-US"/>
            <a:t> with </a:t>
          </a:r>
          <a:r>
            <a:rPr lang="en-US" b="1"/>
            <a:t>macro-level economic indicators</a:t>
          </a:r>
          <a:r>
            <a:rPr lang="en-US"/>
            <a:t> </a:t>
          </a:r>
        </a:p>
      </dgm:t>
    </dgm:pt>
    <dgm:pt modelId="{8BA2C2EB-F9A8-4101-BD78-4DCB87BF0EAF}" type="parTrans" cxnId="{264F59A3-F2F4-4163-993E-398D052D8FE6}">
      <dgm:prSet/>
      <dgm:spPr/>
      <dgm:t>
        <a:bodyPr/>
        <a:lstStyle/>
        <a:p>
          <a:endParaRPr lang="en-US"/>
        </a:p>
      </dgm:t>
    </dgm:pt>
    <dgm:pt modelId="{4B20146D-70CE-4F44-97E1-3937BAD63E88}" type="sibTrans" cxnId="{264F59A3-F2F4-4163-993E-398D052D8FE6}">
      <dgm:prSet/>
      <dgm:spPr/>
      <dgm:t>
        <a:bodyPr/>
        <a:lstStyle/>
        <a:p>
          <a:endParaRPr lang="en-US"/>
        </a:p>
      </dgm:t>
    </dgm:pt>
    <dgm:pt modelId="{6A59ABA0-5EDF-49CE-B596-47AD471F2D05}">
      <dgm:prSet/>
      <dgm:spPr/>
      <dgm:t>
        <a:bodyPr/>
        <a:lstStyle/>
        <a:p>
          <a:r>
            <a:rPr lang="en-US" dirty="0"/>
            <a:t>Constructed a derived metric: Salary-to-GDP (PPP) Ratio</a:t>
          </a:r>
        </a:p>
      </dgm:t>
    </dgm:pt>
    <dgm:pt modelId="{45532E39-571B-4296-9A6C-98E47DA11CA3}" type="parTrans" cxnId="{608E1B99-35C6-4A58-9901-E09A829F59E5}">
      <dgm:prSet/>
      <dgm:spPr/>
      <dgm:t>
        <a:bodyPr/>
        <a:lstStyle/>
        <a:p>
          <a:endParaRPr lang="en-US"/>
        </a:p>
      </dgm:t>
    </dgm:pt>
    <dgm:pt modelId="{D12395B5-4652-49F6-A4EB-CFD682A9D3D7}" type="sibTrans" cxnId="{608E1B99-35C6-4A58-9901-E09A829F59E5}">
      <dgm:prSet/>
      <dgm:spPr/>
      <dgm:t>
        <a:bodyPr/>
        <a:lstStyle/>
        <a:p>
          <a:endParaRPr lang="en-US"/>
        </a:p>
      </dgm:t>
    </dgm:pt>
    <dgm:pt modelId="{6CE812F7-1796-4A5A-92FF-1AF844300BE2}">
      <dgm:prSet/>
      <dgm:spPr/>
      <dgm:t>
        <a:bodyPr/>
        <a:lstStyle/>
        <a:p>
          <a:r>
            <a:rPr lang="en-US"/>
            <a:t>Enables structural comparison of compensation relative to national economic baselines </a:t>
          </a:r>
        </a:p>
      </dgm:t>
    </dgm:pt>
    <dgm:pt modelId="{70EAF3C6-3174-4B44-A6DD-C41918F0C6A9}" type="parTrans" cxnId="{FD11BA1F-4251-4895-85DB-4331521A4C8B}">
      <dgm:prSet/>
      <dgm:spPr/>
      <dgm:t>
        <a:bodyPr/>
        <a:lstStyle/>
        <a:p>
          <a:endParaRPr lang="en-US"/>
        </a:p>
      </dgm:t>
    </dgm:pt>
    <dgm:pt modelId="{F2EC475D-E890-4FEF-9E4A-CFC41DD97A18}" type="sibTrans" cxnId="{FD11BA1F-4251-4895-85DB-4331521A4C8B}">
      <dgm:prSet/>
      <dgm:spPr/>
      <dgm:t>
        <a:bodyPr/>
        <a:lstStyle/>
        <a:p>
          <a:endParaRPr lang="en-US"/>
        </a:p>
      </dgm:t>
    </dgm:pt>
    <dgm:pt modelId="{EA3564C8-2073-424F-91C5-3A1C366DCBC8}">
      <dgm:prSet/>
      <dgm:spPr/>
      <dgm:t>
        <a:bodyPr/>
        <a:lstStyle/>
        <a:p>
          <a:r>
            <a:rPr lang="en-US"/>
            <a:t>Captures global remote labor-market decoupling </a:t>
          </a:r>
        </a:p>
      </dgm:t>
    </dgm:pt>
    <dgm:pt modelId="{047FAA5B-F5F9-45E3-995F-5872D419CAB6}" type="parTrans" cxnId="{214161BA-4E26-4DA8-8EF2-C77C9FA3EAEA}">
      <dgm:prSet/>
      <dgm:spPr/>
      <dgm:t>
        <a:bodyPr/>
        <a:lstStyle/>
        <a:p>
          <a:endParaRPr lang="en-US"/>
        </a:p>
      </dgm:t>
    </dgm:pt>
    <dgm:pt modelId="{4E0B0557-BA1C-4DC3-A000-F20BCA6F7FDB}" type="sibTrans" cxnId="{214161BA-4E26-4DA8-8EF2-C77C9FA3EAEA}">
      <dgm:prSet/>
      <dgm:spPr/>
      <dgm:t>
        <a:bodyPr/>
        <a:lstStyle/>
        <a:p>
          <a:endParaRPr lang="en-US"/>
        </a:p>
      </dgm:t>
    </dgm:pt>
    <dgm:pt modelId="{343E9549-D6C5-4660-B982-DDC5D1B3D2E6}">
      <dgm:prSet/>
      <dgm:spPr/>
      <dgm:t>
        <a:bodyPr/>
        <a:lstStyle/>
        <a:p>
          <a:r>
            <a:rPr lang="en-US" dirty="0"/>
            <a:t>Multi-year window (2020–2024) allows post-pandemic temporal analysis </a:t>
          </a:r>
        </a:p>
      </dgm:t>
    </dgm:pt>
    <dgm:pt modelId="{2776A33F-C0D0-44A5-B047-595224E5A62B}" type="parTrans" cxnId="{5C303006-E9E6-4E3D-B648-8C6E664910CC}">
      <dgm:prSet/>
      <dgm:spPr/>
      <dgm:t>
        <a:bodyPr/>
        <a:lstStyle/>
        <a:p>
          <a:endParaRPr lang="en-US"/>
        </a:p>
      </dgm:t>
    </dgm:pt>
    <dgm:pt modelId="{8FE08DBD-8A20-483E-9E3C-96B8301BF84D}" type="sibTrans" cxnId="{5C303006-E9E6-4E3D-B648-8C6E664910CC}">
      <dgm:prSet/>
      <dgm:spPr/>
      <dgm:t>
        <a:bodyPr/>
        <a:lstStyle/>
        <a:p>
          <a:endParaRPr lang="en-US"/>
        </a:p>
      </dgm:t>
    </dgm:pt>
    <dgm:pt modelId="{F7F59700-174B-814C-9AA2-4A1A9A4A2654}" type="pres">
      <dgm:prSet presAssocID="{AE8A5E85-7091-468C-828F-F02882757E66}" presName="vert0" presStyleCnt="0">
        <dgm:presLayoutVars>
          <dgm:dir/>
          <dgm:animOne val="branch"/>
          <dgm:animLvl val="lvl"/>
        </dgm:presLayoutVars>
      </dgm:prSet>
      <dgm:spPr/>
    </dgm:pt>
    <dgm:pt modelId="{DFCC8C83-9CAF-3640-9F83-DADBB0430256}" type="pres">
      <dgm:prSet presAssocID="{86A79691-2A5C-4576-8ED6-0AABD092F1A2}" presName="thickLine" presStyleLbl="alignNode1" presStyleIdx="0" presStyleCnt="5"/>
      <dgm:spPr/>
    </dgm:pt>
    <dgm:pt modelId="{8DC2EF31-BAEE-5446-8A79-21E5F6A1336F}" type="pres">
      <dgm:prSet presAssocID="{86A79691-2A5C-4576-8ED6-0AABD092F1A2}" presName="horz1" presStyleCnt="0"/>
      <dgm:spPr/>
    </dgm:pt>
    <dgm:pt modelId="{11CD805A-3C83-FC47-86FC-A8423DDED97E}" type="pres">
      <dgm:prSet presAssocID="{86A79691-2A5C-4576-8ED6-0AABD092F1A2}" presName="tx1" presStyleLbl="revTx" presStyleIdx="0" presStyleCnt="5"/>
      <dgm:spPr/>
    </dgm:pt>
    <dgm:pt modelId="{3EB655BC-1EAD-0749-A89C-770EDD0C5F15}" type="pres">
      <dgm:prSet presAssocID="{86A79691-2A5C-4576-8ED6-0AABD092F1A2}" presName="vert1" presStyleCnt="0"/>
      <dgm:spPr/>
    </dgm:pt>
    <dgm:pt modelId="{86E7E151-A337-CF46-AF2C-FC8A2339D57B}" type="pres">
      <dgm:prSet presAssocID="{6A59ABA0-5EDF-49CE-B596-47AD471F2D05}" presName="thickLine" presStyleLbl="alignNode1" presStyleIdx="1" presStyleCnt="5"/>
      <dgm:spPr/>
    </dgm:pt>
    <dgm:pt modelId="{C91EB7B0-75E9-3F41-8B83-D97B765E6D13}" type="pres">
      <dgm:prSet presAssocID="{6A59ABA0-5EDF-49CE-B596-47AD471F2D05}" presName="horz1" presStyleCnt="0"/>
      <dgm:spPr/>
    </dgm:pt>
    <dgm:pt modelId="{3E2AB477-0CC8-0D47-9D98-0FCBD7A2CB22}" type="pres">
      <dgm:prSet presAssocID="{6A59ABA0-5EDF-49CE-B596-47AD471F2D05}" presName="tx1" presStyleLbl="revTx" presStyleIdx="1" presStyleCnt="5"/>
      <dgm:spPr/>
    </dgm:pt>
    <dgm:pt modelId="{2F736E2A-FC75-334D-B018-821931416FB0}" type="pres">
      <dgm:prSet presAssocID="{6A59ABA0-5EDF-49CE-B596-47AD471F2D05}" presName="vert1" presStyleCnt="0"/>
      <dgm:spPr/>
    </dgm:pt>
    <dgm:pt modelId="{FCB06BE2-724A-9E4F-A1CB-F7BF192B65F2}" type="pres">
      <dgm:prSet presAssocID="{6CE812F7-1796-4A5A-92FF-1AF844300BE2}" presName="thickLine" presStyleLbl="alignNode1" presStyleIdx="2" presStyleCnt="5"/>
      <dgm:spPr/>
    </dgm:pt>
    <dgm:pt modelId="{BF6FEAAB-FF87-6242-B52A-7A7C36A45299}" type="pres">
      <dgm:prSet presAssocID="{6CE812F7-1796-4A5A-92FF-1AF844300BE2}" presName="horz1" presStyleCnt="0"/>
      <dgm:spPr/>
    </dgm:pt>
    <dgm:pt modelId="{20EDC5EC-6A30-4844-9285-D6A240E462AB}" type="pres">
      <dgm:prSet presAssocID="{6CE812F7-1796-4A5A-92FF-1AF844300BE2}" presName="tx1" presStyleLbl="revTx" presStyleIdx="2" presStyleCnt="5"/>
      <dgm:spPr/>
    </dgm:pt>
    <dgm:pt modelId="{E656FE4A-9AF3-BA4A-9C31-B6C55B0CEA64}" type="pres">
      <dgm:prSet presAssocID="{6CE812F7-1796-4A5A-92FF-1AF844300BE2}" presName="vert1" presStyleCnt="0"/>
      <dgm:spPr/>
    </dgm:pt>
    <dgm:pt modelId="{47D4D42C-873C-D241-9C99-32ECA41355AB}" type="pres">
      <dgm:prSet presAssocID="{EA3564C8-2073-424F-91C5-3A1C366DCBC8}" presName="thickLine" presStyleLbl="alignNode1" presStyleIdx="3" presStyleCnt="5"/>
      <dgm:spPr/>
    </dgm:pt>
    <dgm:pt modelId="{6ECC92FB-EB7E-9D4F-B9A7-8889C37BE91F}" type="pres">
      <dgm:prSet presAssocID="{EA3564C8-2073-424F-91C5-3A1C366DCBC8}" presName="horz1" presStyleCnt="0"/>
      <dgm:spPr/>
    </dgm:pt>
    <dgm:pt modelId="{E095510C-403A-4A48-8A7A-371A0CD2AF7F}" type="pres">
      <dgm:prSet presAssocID="{EA3564C8-2073-424F-91C5-3A1C366DCBC8}" presName="tx1" presStyleLbl="revTx" presStyleIdx="3" presStyleCnt="5"/>
      <dgm:spPr/>
    </dgm:pt>
    <dgm:pt modelId="{01E53187-C683-3B49-A8A3-F9A0F7D7A771}" type="pres">
      <dgm:prSet presAssocID="{EA3564C8-2073-424F-91C5-3A1C366DCBC8}" presName="vert1" presStyleCnt="0"/>
      <dgm:spPr/>
    </dgm:pt>
    <dgm:pt modelId="{C98CE8F1-CC75-E443-82E6-9017AB2BA543}" type="pres">
      <dgm:prSet presAssocID="{343E9549-D6C5-4660-B982-DDC5D1B3D2E6}" presName="thickLine" presStyleLbl="alignNode1" presStyleIdx="4" presStyleCnt="5"/>
      <dgm:spPr/>
    </dgm:pt>
    <dgm:pt modelId="{C7D9F368-1FD4-C149-BE3E-8016DF93A476}" type="pres">
      <dgm:prSet presAssocID="{343E9549-D6C5-4660-B982-DDC5D1B3D2E6}" presName="horz1" presStyleCnt="0"/>
      <dgm:spPr/>
    </dgm:pt>
    <dgm:pt modelId="{84DA51B9-BB25-6343-BE5D-1948AC4A5DB3}" type="pres">
      <dgm:prSet presAssocID="{343E9549-D6C5-4660-B982-DDC5D1B3D2E6}" presName="tx1" presStyleLbl="revTx" presStyleIdx="4" presStyleCnt="5"/>
      <dgm:spPr/>
    </dgm:pt>
    <dgm:pt modelId="{23CA25A5-55B0-1E4F-834D-D5541DA023F1}" type="pres">
      <dgm:prSet presAssocID="{343E9549-D6C5-4660-B982-DDC5D1B3D2E6}" presName="vert1" presStyleCnt="0"/>
      <dgm:spPr/>
    </dgm:pt>
  </dgm:ptLst>
  <dgm:cxnLst>
    <dgm:cxn modelId="{5C303006-E9E6-4E3D-B648-8C6E664910CC}" srcId="{AE8A5E85-7091-468C-828F-F02882757E66}" destId="{343E9549-D6C5-4660-B982-DDC5D1B3D2E6}" srcOrd="4" destOrd="0" parTransId="{2776A33F-C0D0-44A5-B047-595224E5A62B}" sibTransId="{8FE08DBD-8A20-483E-9E3C-96B8301BF84D}"/>
    <dgm:cxn modelId="{04634C08-F54E-E04E-8B3C-04149C5A03FD}" type="presOf" srcId="{6A59ABA0-5EDF-49CE-B596-47AD471F2D05}" destId="{3E2AB477-0CC8-0D47-9D98-0FCBD7A2CB22}" srcOrd="0" destOrd="0" presId="urn:microsoft.com/office/officeart/2008/layout/LinedList"/>
    <dgm:cxn modelId="{E352CF11-EDBA-3445-9FD3-7B30D94AD2BA}" type="presOf" srcId="{6CE812F7-1796-4A5A-92FF-1AF844300BE2}" destId="{20EDC5EC-6A30-4844-9285-D6A240E462AB}" srcOrd="0" destOrd="0" presId="urn:microsoft.com/office/officeart/2008/layout/LinedList"/>
    <dgm:cxn modelId="{FD11BA1F-4251-4895-85DB-4331521A4C8B}" srcId="{AE8A5E85-7091-468C-828F-F02882757E66}" destId="{6CE812F7-1796-4A5A-92FF-1AF844300BE2}" srcOrd="2" destOrd="0" parTransId="{70EAF3C6-3174-4B44-A6DD-C41918F0C6A9}" sibTransId="{F2EC475D-E890-4FEF-9E4A-CFC41DD97A18}"/>
    <dgm:cxn modelId="{6693AC32-C1F2-2F4B-A33B-AA2005C2185D}" type="presOf" srcId="{AE8A5E85-7091-468C-828F-F02882757E66}" destId="{F7F59700-174B-814C-9AA2-4A1A9A4A2654}" srcOrd="0" destOrd="0" presId="urn:microsoft.com/office/officeart/2008/layout/LinedList"/>
    <dgm:cxn modelId="{A4DEC44E-A33D-EE42-AEF3-22B41FB073FC}" type="presOf" srcId="{EA3564C8-2073-424F-91C5-3A1C366DCBC8}" destId="{E095510C-403A-4A48-8A7A-371A0CD2AF7F}" srcOrd="0" destOrd="0" presId="urn:microsoft.com/office/officeart/2008/layout/LinedList"/>
    <dgm:cxn modelId="{C1CEF07B-62E4-FA47-8934-97F305636A5F}" type="presOf" srcId="{343E9549-D6C5-4660-B982-DDC5D1B3D2E6}" destId="{84DA51B9-BB25-6343-BE5D-1948AC4A5DB3}" srcOrd="0" destOrd="0" presId="urn:microsoft.com/office/officeart/2008/layout/LinedList"/>
    <dgm:cxn modelId="{608E1B99-35C6-4A58-9901-E09A829F59E5}" srcId="{AE8A5E85-7091-468C-828F-F02882757E66}" destId="{6A59ABA0-5EDF-49CE-B596-47AD471F2D05}" srcOrd="1" destOrd="0" parTransId="{45532E39-571B-4296-9A6C-98E47DA11CA3}" sibTransId="{D12395B5-4652-49F6-A4EB-CFD682A9D3D7}"/>
    <dgm:cxn modelId="{264F59A3-F2F4-4163-993E-398D052D8FE6}" srcId="{AE8A5E85-7091-468C-828F-F02882757E66}" destId="{86A79691-2A5C-4576-8ED6-0AABD092F1A2}" srcOrd="0" destOrd="0" parTransId="{8BA2C2EB-F9A8-4101-BD78-4DCB87BF0EAF}" sibTransId="{4B20146D-70CE-4F44-97E1-3937BAD63E88}"/>
    <dgm:cxn modelId="{34BC10BA-9C0E-4044-8A88-2F4CEC8DA667}" type="presOf" srcId="{86A79691-2A5C-4576-8ED6-0AABD092F1A2}" destId="{11CD805A-3C83-FC47-86FC-A8423DDED97E}" srcOrd="0" destOrd="0" presId="urn:microsoft.com/office/officeart/2008/layout/LinedList"/>
    <dgm:cxn modelId="{214161BA-4E26-4DA8-8EF2-C77C9FA3EAEA}" srcId="{AE8A5E85-7091-468C-828F-F02882757E66}" destId="{EA3564C8-2073-424F-91C5-3A1C366DCBC8}" srcOrd="3" destOrd="0" parTransId="{047FAA5B-F5F9-45E3-995F-5872D419CAB6}" sibTransId="{4E0B0557-BA1C-4DC3-A000-F20BCA6F7FDB}"/>
    <dgm:cxn modelId="{9C65EF4A-24CA-7E4E-9624-7AC30F616451}" type="presParOf" srcId="{F7F59700-174B-814C-9AA2-4A1A9A4A2654}" destId="{DFCC8C83-9CAF-3640-9F83-DADBB0430256}" srcOrd="0" destOrd="0" presId="urn:microsoft.com/office/officeart/2008/layout/LinedList"/>
    <dgm:cxn modelId="{D7BCBEB7-DF94-B14F-BF74-EF8D2B78AD69}" type="presParOf" srcId="{F7F59700-174B-814C-9AA2-4A1A9A4A2654}" destId="{8DC2EF31-BAEE-5446-8A79-21E5F6A1336F}" srcOrd="1" destOrd="0" presId="urn:microsoft.com/office/officeart/2008/layout/LinedList"/>
    <dgm:cxn modelId="{1DCC7312-199F-6F4A-9151-A80E34475135}" type="presParOf" srcId="{8DC2EF31-BAEE-5446-8A79-21E5F6A1336F}" destId="{11CD805A-3C83-FC47-86FC-A8423DDED97E}" srcOrd="0" destOrd="0" presId="urn:microsoft.com/office/officeart/2008/layout/LinedList"/>
    <dgm:cxn modelId="{8B067BC3-7041-5E41-ABAC-BDEC3075679D}" type="presParOf" srcId="{8DC2EF31-BAEE-5446-8A79-21E5F6A1336F}" destId="{3EB655BC-1EAD-0749-A89C-770EDD0C5F15}" srcOrd="1" destOrd="0" presId="urn:microsoft.com/office/officeart/2008/layout/LinedList"/>
    <dgm:cxn modelId="{C21FBB00-B770-4F4A-A0BC-28081A980D75}" type="presParOf" srcId="{F7F59700-174B-814C-9AA2-4A1A9A4A2654}" destId="{86E7E151-A337-CF46-AF2C-FC8A2339D57B}" srcOrd="2" destOrd="0" presId="urn:microsoft.com/office/officeart/2008/layout/LinedList"/>
    <dgm:cxn modelId="{4B2D4026-19E2-D24E-867A-A588783727D5}" type="presParOf" srcId="{F7F59700-174B-814C-9AA2-4A1A9A4A2654}" destId="{C91EB7B0-75E9-3F41-8B83-D97B765E6D13}" srcOrd="3" destOrd="0" presId="urn:microsoft.com/office/officeart/2008/layout/LinedList"/>
    <dgm:cxn modelId="{728E085C-3B27-A847-B4EC-A9A561CC0B58}" type="presParOf" srcId="{C91EB7B0-75E9-3F41-8B83-D97B765E6D13}" destId="{3E2AB477-0CC8-0D47-9D98-0FCBD7A2CB22}" srcOrd="0" destOrd="0" presId="urn:microsoft.com/office/officeart/2008/layout/LinedList"/>
    <dgm:cxn modelId="{74CDAEC4-CF81-634E-AB7E-A26B16990D64}" type="presParOf" srcId="{C91EB7B0-75E9-3F41-8B83-D97B765E6D13}" destId="{2F736E2A-FC75-334D-B018-821931416FB0}" srcOrd="1" destOrd="0" presId="urn:microsoft.com/office/officeart/2008/layout/LinedList"/>
    <dgm:cxn modelId="{7B4A2646-6D03-8A42-B4C1-5A13ECF04C64}" type="presParOf" srcId="{F7F59700-174B-814C-9AA2-4A1A9A4A2654}" destId="{FCB06BE2-724A-9E4F-A1CB-F7BF192B65F2}" srcOrd="4" destOrd="0" presId="urn:microsoft.com/office/officeart/2008/layout/LinedList"/>
    <dgm:cxn modelId="{E4617154-BC45-2B4B-B56E-88624413E3EF}" type="presParOf" srcId="{F7F59700-174B-814C-9AA2-4A1A9A4A2654}" destId="{BF6FEAAB-FF87-6242-B52A-7A7C36A45299}" srcOrd="5" destOrd="0" presId="urn:microsoft.com/office/officeart/2008/layout/LinedList"/>
    <dgm:cxn modelId="{53377CE0-08FE-7642-9DE8-E4B0B35867F1}" type="presParOf" srcId="{BF6FEAAB-FF87-6242-B52A-7A7C36A45299}" destId="{20EDC5EC-6A30-4844-9285-D6A240E462AB}" srcOrd="0" destOrd="0" presId="urn:microsoft.com/office/officeart/2008/layout/LinedList"/>
    <dgm:cxn modelId="{3363D9E0-C4E1-3348-AC85-D52CBBA86824}" type="presParOf" srcId="{BF6FEAAB-FF87-6242-B52A-7A7C36A45299}" destId="{E656FE4A-9AF3-BA4A-9C31-B6C55B0CEA64}" srcOrd="1" destOrd="0" presId="urn:microsoft.com/office/officeart/2008/layout/LinedList"/>
    <dgm:cxn modelId="{DF246EA6-CA4E-5D43-99EB-9E947078AC77}" type="presParOf" srcId="{F7F59700-174B-814C-9AA2-4A1A9A4A2654}" destId="{47D4D42C-873C-D241-9C99-32ECA41355AB}" srcOrd="6" destOrd="0" presId="urn:microsoft.com/office/officeart/2008/layout/LinedList"/>
    <dgm:cxn modelId="{6D1B898A-CEB0-5141-B045-01839D5D4065}" type="presParOf" srcId="{F7F59700-174B-814C-9AA2-4A1A9A4A2654}" destId="{6ECC92FB-EB7E-9D4F-B9A7-8889C37BE91F}" srcOrd="7" destOrd="0" presId="urn:microsoft.com/office/officeart/2008/layout/LinedList"/>
    <dgm:cxn modelId="{EA543448-7BD6-EE41-A75A-A61A9AD08DAB}" type="presParOf" srcId="{6ECC92FB-EB7E-9D4F-B9A7-8889C37BE91F}" destId="{E095510C-403A-4A48-8A7A-371A0CD2AF7F}" srcOrd="0" destOrd="0" presId="urn:microsoft.com/office/officeart/2008/layout/LinedList"/>
    <dgm:cxn modelId="{7FC20814-139F-B148-B87B-9093AFE594FD}" type="presParOf" srcId="{6ECC92FB-EB7E-9D4F-B9A7-8889C37BE91F}" destId="{01E53187-C683-3B49-A8A3-F9A0F7D7A771}" srcOrd="1" destOrd="0" presId="urn:microsoft.com/office/officeart/2008/layout/LinedList"/>
    <dgm:cxn modelId="{9EE76ADE-31E6-874C-8439-FCE6999DF500}" type="presParOf" srcId="{F7F59700-174B-814C-9AA2-4A1A9A4A2654}" destId="{C98CE8F1-CC75-E443-82E6-9017AB2BA543}" srcOrd="8" destOrd="0" presId="urn:microsoft.com/office/officeart/2008/layout/LinedList"/>
    <dgm:cxn modelId="{21A73C59-3FD0-6C47-BFA1-B444A008D69A}" type="presParOf" srcId="{F7F59700-174B-814C-9AA2-4A1A9A4A2654}" destId="{C7D9F368-1FD4-C149-BE3E-8016DF93A476}" srcOrd="9" destOrd="0" presId="urn:microsoft.com/office/officeart/2008/layout/LinedList"/>
    <dgm:cxn modelId="{9415A213-3C4E-C94E-8726-27273E714F29}" type="presParOf" srcId="{C7D9F368-1FD4-C149-BE3E-8016DF93A476}" destId="{84DA51B9-BB25-6343-BE5D-1948AC4A5DB3}" srcOrd="0" destOrd="0" presId="urn:microsoft.com/office/officeart/2008/layout/LinedList"/>
    <dgm:cxn modelId="{5F37C2DF-D44D-7143-9DBA-27B3C9C4DC3A}" type="presParOf" srcId="{C7D9F368-1FD4-C149-BE3E-8016DF93A476}" destId="{23CA25A5-55B0-1E4F-834D-D5541DA023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9FE30A-A6B4-4B7E-B1CA-4276771ADE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9D2866-B9AD-4D77-9B4A-EE672405D1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Remote work structurally repriced global technical labor, reshaping compensation patterns across experience levels and geographies</a:t>
          </a:r>
        </a:p>
      </dgm:t>
    </dgm:pt>
    <dgm:pt modelId="{3CE1CDF7-7F56-480F-941C-2338ACC10D99}" type="parTrans" cxnId="{22849E06-75A7-4AB8-A4A1-55F20C0ADD8F}">
      <dgm:prSet/>
      <dgm:spPr/>
      <dgm:t>
        <a:bodyPr/>
        <a:lstStyle/>
        <a:p>
          <a:endParaRPr lang="en-US"/>
        </a:p>
      </dgm:t>
    </dgm:pt>
    <dgm:pt modelId="{BA081B0A-3ADF-4D6A-8A23-6F647CB3623C}" type="sibTrans" cxnId="{22849E06-75A7-4AB8-A4A1-55F20C0ADD8F}">
      <dgm:prSet/>
      <dgm:spPr/>
      <dgm:t>
        <a:bodyPr/>
        <a:lstStyle/>
        <a:p>
          <a:endParaRPr lang="en-US"/>
        </a:p>
      </dgm:t>
    </dgm:pt>
    <dgm:pt modelId="{6265D8E2-B581-4082-84C6-1490A01012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Salary growth was concentrated in upper distribution tiers, indicating divergence rather than uniform uplift</a:t>
          </a:r>
        </a:p>
      </dgm:t>
    </dgm:pt>
    <dgm:pt modelId="{1AE99281-92B0-4074-8E10-D5561F3C6F4D}" type="parTrans" cxnId="{90BB3DF6-EF59-4949-AB6F-9FF35F7688D7}">
      <dgm:prSet/>
      <dgm:spPr/>
      <dgm:t>
        <a:bodyPr/>
        <a:lstStyle/>
        <a:p>
          <a:endParaRPr lang="en-US"/>
        </a:p>
      </dgm:t>
    </dgm:pt>
    <dgm:pt modelId="{19805527-EEE2-47A0-B53E-D41E8B74A4BC}" type="sibTrans" cxnId="{90BB3DF6-EF59-4949-AB6F-9FF35F7688D7}">
      <dgm:prSet/>
      <dgm:spPr/>
      <dgm:t>
        <a:bodyPr/>
        <a:lstStyle/>
        <a:p>
          <a:endParaRPr lang="en-US"/>
        </a:p>
      </dgm:t>
    </dgm:pt>
    <dgm:pt modelId="{3B69F9E1-0C57-48F0-A045-B0215C66D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Compensation became increasingly decoupled from national GDP baselines, enabling cross-border purchasing power effects</a:t>
          </a:r>
        </a:p>
      </dgm:t>
    </dgm:pt>
    <dgm:pt modelId="{85F7BC10-4394-4CA9-BA6F-A73841DBBB89}" type="parTrans" cxnId="{AE4598FA-E70F-4004-82A4-42424533DA3B}">
      <dgm:prSet/>
      <dgm:spPr/>
      <dgm:t>
        <a:bodyPr/>
        <a:lstStyle/>
        <a:p>
          <a:endParaRPr lang="en-US"/>
        </a:p>
      </dgm:t>
    </dgm:pt>
    <dgm:pt modelId="{D040D2C6-CB8F-4442-B2F6-8DCE26218A66}" type="sibTrans" cxnId="{AE4598FA-E70F-4004-82A4-42424533DA3B}">
      <dgm:prSet/>
      <dgm:spPr/>
      <dgm:t>
        <a:bodyPr/>
        <a:lstStyle/>
        <a:p>
          <a:endParaRPr lang="en-US"/>
        </a:p>
      </dgm:t>
    </dgm:pt>
    <dgm:pt modelId="{BBD9B381-C02D-4D16-BDC8-C8C9C3CA4C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Distribution-aware visualization reveals structural labor-market shifts more effectively than summary statistics alone</a:t>
          </a:r>
        </a:p>
      </dgm:t>
    </dgm:pt>
    <dgm:pt modelId="{A4933720-5A84-4FCD-86AA-AF7D7BB413CF}" type="parTrans" cxnId="{74A0887C-30CB-4FB0-8E21-B46D4377071B}">
      <dgm:prSet/>
      <dgm:spPr/>
      <dgm:t>
        <a:bodyPr/>
        <a:lstStyle/>
        <a:p>
          <a:endParaRPr lang="en-US"/>
        </a:p>
      </dgm:t>
    </dgm:pt>
    <dgm:pt modelId="{C44119E2-F1B3-4E34-BEF3-0381B35C6659}" type="sibTrans" cxnId="{74A0887C-30CB-4FB0-8E21-B46D4377071B}">
      <dgm:prSet/>
      <dgm:spPr/>
      <dgm:t>
        <a:bodyPr/>
        <a:lstStyle/>
        <a:p>
          <a:endParaRPr lang="en-US"/>
        </a:p>
      </dgm:t>
    </dgm:pt>
    <dgm:pt modelId="{64E757E0-98B7-41AC-90E3-CDAF0D0F68BB}" type="pres">
      <dgm:prSet presAssocID="{439FE30A-A6B4-4B7E-B1CA-4276771ADEE9}" presName="root" presStyleCnt="0">
        <dgm:presLayoutVars>
          <dgm:dir/>
          <dgm:resizeHandles val="exact"/>
        </dgm:presLayoutVars>
      </dgm:prSet>
      <dgm:spPr/>
    </dgm:pt>
    <dgm:pt modelId="{8AA94693-721A-44A0-8C96-F46CD97B5605}" type="pres">
      <dgm:prSet presAssocID="{399D2866-B9AD-4D77-9B4A-EE672405D1D9}" presName="compNode" presStyleCnt="0"/>
      <dgm:spPr/>
    </dgm:pt>
    <dgm:pt modelId="{EC643CDE-FD12-404B-A5CD-ED36A4983131}" type="pres">
      <dgm:prSet presAssocID="{399D2866-B9AD-4D77-9B4A-EE672405D1D9}" presName="bgRect" presStyleLbl="bgShp" presStyleIdx="0" presStyleCnt="4"/>
      <dgm:spPr/>
    </dgm:pt>
    <dgm:pt modelId="{6B2824E3-B18C-4C1F-9B25-801020C16FF6}" type="pres">
      <dgm:prSet presAssocID="{399D2866-B9AD-4D77-9B4A-EE672405D1D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D86D826-1B32-4493-B0AD-DEF1348A02CA}" type="pres">
      <dgm:prSet presAssocID="{399D2866-B9AD-4D77-9B4A-EE672405D1D9}" presName="spaceRect" presStyleCnt="0"/>
      <dgm:spPr/>
    </dgm:pt>
    <dgm:pt modelId="{399645E4-D6FC-4C0F-805A-6BBFFFF86D79}" type="pres">
      <dgm:prSet presAssocID="{399D2866-B9AD-4D77-9B4A-EE672405D1D9}" presName="parTx" presStyleLbl="revTx" presStyleIdx="0" presStyleCnt="4">
        <dgm:presLayoutVars>
          <dgm:chMax val="0"/>
          <dgm:chPref val="0"/>
        </dgm:presLayoutVars>
      </dgm:prSet>
      <dgm:spPr/>
    </dgm:pt>
    <dgm:pt modelId="{1AC07CAF-22F7-4278-95D0-44081F4CFD32}" type="pres">
      <dgm:prSet presAssocID="{BA081B0A-3ADF-4D6A-8A23-6F647CB3623C}" presName="sibTrans" presStyleCnt="0"/>
      <dgm:spPr/>
    </dgm:pt>
    <dgm:pt modelId="{7B8D5D46-9555-405A-8773-E1D65AE1320D}" type="pres">
      <dgm:prSet presAssocID="{6265D8E2-B581-4082-84C6-1490A0101278}" presName="compNode" presStyleCnt="0"/>
      <dgm:spPr/>
    </dgm:pt>
    <dgm:pt modelId="{80F1FF71-02CC-4A6B-ADDA-C9C838A1BA8B}" type="pres">
      <dgm:prSet presAssocID="{6265D8E2-B581-4082-84C6-1490A0101278}" presName="bgRect" presStyleLbl="bgShp" presStyleIdx="1" presStyleCnt="4"/>
      <dgm:spPr/>
    </dgm:pt>
    <dgm:pt modelId="{56DCD711-39E3-4EAF-B4FC-351D6EB102F9}" type="pres">
      <dgm:prSet presAssocID="{6265D8E2-B581-4082-84C6-1490A010127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65C7256-831D-4A25-B9C5-2B944D22D292}" type="pres">
      <dgm:prSet presAssocID="{6265D8E2-B581-4082-84C6-1490A0101278}" presName="spaceRect" presStyleCnt="0"/>
      <dgm:spPr/>
    </dgm:pt>
    <dgm:pt modelId="{31CB2848-AC52-4F42-AFD0-72F86582C809}" type="pres">
      <dgm:prSet presAssocID="{6265D8E2-B581-4082-84C6-1490A0101278}" presName="parTx" presStyleLbl="revTx" presStyleIdx="1" presStyleCnt="4">
        <dgm:presLayoutVars>
          <dgm:chMax val="0"/>
          <dgm:chPref val="0"/>
        </dgm:presLayoutVars>
      </dgm:prSet>
      <dgm:spPr/>
    </dgm:pt>
    <dgm:pt modelId="{AF571A9B-F189-4939-B3E6-A9FE99ACE331}" type="pres">
      <dgm:prSet presAssocID="{19805527-EEE2-47A0-B53E-D41E8B74A4BC}" presName="sibTrans" presStyleCnt="0"/>
      <dgm:spPr/>
    </dgm:pt>
    <dgm:pt modelId="{2174A756-532E-410B-85CF-5C3CB4926C3A}" type="pres">
      <dgm:prSet presAssocID="{3B69F9E1-0C57-48F0-A045-B0215C66D390}" presName="compNode" presStyleCnt="0"/>
      <dgm:spPr/>
    </dgm:pt>
    <dgm:pt modelId="{1A36A672-FE3E-42D6-B408-D68517F74496}" type="pres">
      <dgm:prSet presAssocID="{3B69F9E1-0C57-48F0-A045-B0215C66D390}" presName="bgRect" presStyleLbl="bgShp" presStyleIdx="2" presStyleCnt="4"/>
      <dgm:spPr/>
    </dgm:pt>
    <dgm:pt modelId="{342D44BA-3A20-435C-8ABB-8BB520FD5E5E}" type="pres">
      <dgm:prSet presAssocID="{3B69F9E1-0C57-48F0-A045-B0215C66D39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38E1035-75BB-4407-8B8D-B6F5C05846E6}" type="pres">
      <dgm:prSet presAssocID="{3B69F9E1-0C57-48F0-A045-B0215C66D390}" presName="spaceRect" presStyleCnt="0"/>
      <dgm:spPr/>
    </dgm:pt>
    <dgm:pt modelId="{7F1BBC53-5F4E-479D-B935-6B2AB347C920}" type="pres">
      <dgm:prSet presAssocID="{3B69F9E1-0C57-48F0-A045-B0215C66D390}" presName="parTx" presStyleLbl="revTx" presStyleIdx="2" presStyleCnt="4">
        <dgm:presLayoutVars>
          <dgm:chMax val="0"/>
          <dgm:chPref val="0"/>
        </dgm:presLayoutVars>
      </dgm:prSet>
      <dgm:spPr/>
    </dgm:pt>
    <dgm:pt modelId="{DE4AA33D-05DE-44E4-AFDC-3D81C3606B1B}" type="pres">
      <dgm:prSet presAssocID="{D040D2C6-CB8F-4442-B2F6-8DCE26218A66}" presName="sibTrans" presStyleCnt="0"/>
      <dgm:spPr/>
    </dgm:pt>
    <dgm:pt modelId="{523126D6-5ACB-4154-B6F1-2227BA1E83FD}" type="pres">
      <dgm:prSet presAssocID="{BBD9B381-C02D-4D16-BDC8-C8C9C3CA4CF7}" presName="compNode" presStyleCnt="0"/>
      <dgm:spPr/>
    </dgm:pt>
    <dgm:pt modelId="{BEA15C51-CB19-4AC1-984E-144E48490844}" type="pres">
      <dgm:prSet presAssocID="{BBD9B381-C02D-4D16-BDC8-C8C9C3CA4CF7}" presName="bgRect" presStyleLbl="bgShp" presStyleIdx="3" presStyleCnt="4"/>
      <dgm:spPr/>
    </dgm:pt>
    <dgm:pt modelId="{6A80495A-F798-4E0B-854F-8BB53CE5970D}" type="pres">
      <dgm:prSet presAssocID="{BBD9B381-C02D-4D16-BDC8-C8C9C3CA4CF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708D187D-A00B-4AD3-A9DF-E8F6C9BDA089}" type="pres">
      <dgm:prSet presAssocID="{BBD9B381-C02D-4D16-BDC8-C8C9C3CA4CF7}" presName="spaceRect" presStyleCnt="0"/>
      <dgm:spPr/>
    </dgm:pt>
    <dgm:pt modelId="{6DBBCFAC-8220-48EC-AC23-D6EDC4A3F86C}" type="pres">
      <dgm:prSet presAssocID="{BBD9B381-C02D-4D16-BDC8-C8C9C3CA4CF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849E06-75A7-4AB8-A4A1-55F20C0ADD8F}" srcId="{439FE30A-A6B4-4B7E-B1CA-4276771ADEE9}" destId="{399D2866-B9AD-4D77-9B4A-EE672405D1D9}" srcOrd="0" destOrd="0" parTransId="{3CE1CDF7-7F56-480F-941C-2338ACC10D99}" sibTransId="{BA081B0A-3ADF-4D6A-8A23-6F647CB3623C}"/>
    <dgm:cxn modelId="{3A9F0E59-0E96-455F-A2B8-FF4C0BC13BC1}" type="presOf" srcId="{BBD9B381-C02D-4D16-BDC8-C8C9C3CA4CF7}" destId="{6DBBCFAC-8220-48EC-AC23-D6EDC4A3F86C}" srcOrd="0" destOrd="0" presId="urn:microsoft.com/office/officeart/2018/2/layout/IconVerticalSolidList"/>
    <dgm:cxn modelId="{74A0887C-30CB-4FB0-8E21-B46D4377071B}" srcId="{439FE30A-A6B4-4B7E-B1CA-4276771ADEE9}" destId="{BBD9B381-C02D-4D16-BDC8-C8C9C3CA4CF7}" srcOrd="3" destOrd="0" parTransId="{A4933720-5A84-4FCD-86AA-AF7D7BB413CF}" sibTransId="{C44119E2-F1B3-4E34-BEF3-0381B35C6659}"/>
    <dgm:cxn modelId="{67737F9F-3BCC-453D-8026-30D8475899CD}" type="presOf" srcId="{6265D8E2-B581-4082-84C6-1490A0101278}" destId="{31CB2848-AC52-4F42-AFD0-72F86582C809}" srcOrd="0" destOrd="0" presId="urn:microsoft.com/office/officeart/2018/2/layout/IconVerticalSolidList"/>
    <dgm:cxn modelId="{0A6F8EA7-F382-4917-A546-E2F8F0AF1863}" type="presOf" srcId="{439FE30A-A6B4-4B7E-B1CA-4276771ADEE9}" destId="{64E757E0-98B7-41AC-90E3-CDAF0D0F68BB}" srcOrd="0" destOrd="0" presId="urn:microsoft.com/office/officeart/2018/2/layout/IconVerticalSolidList"/>
    <dgm:cxn modelId="{4B6010C9-6948-42F8-AC8C-61D8387E5878}" type="presOf" srcId="{3B69F9E1-0C57-48F0-A045-B0215C66D390}" destId="{7F1BBC53-5F4E-479D-B935-6B2AB347C920}" srcOrd="0" destOrd="0" presId="urn:microsoft.com/office/officeart/2018/2/layout/IconVerticalSolidList"/>
    <dgm:cxn modelId="{4C7C79F4-CFCB-4805-9294-2F3BF8E96289}" type="presOf" srcId="{399D2866-B9AD-4D77-9B4A-EE672405D1D9}" destId="{399645E4-D6FC-4C0F-805A-6BBFFFF86D79}" srcOrd="0" destOrd="0" presId="urn:microsoft.com/office/officeart/2018/2/layout/IconVerticalSolidList"/>
    <dgm:cxn modelId="{90BB3DF6-EF59-4949-AB6F-9FF35F7688D7}" srcId="{439FE30A-A6B4-4B7E-B1CA-4276771ADEE9}" destId="{6265D8E2-B581-4082-84C6-1490A0101278}" srcOrd="1" destOrd="0" parTransId="{1AE99281-92B0-4074-8E10-D5561F3C6F4D}" sibTransId="{19805527-EEE2-47A0-B53E-D41E8B74A4BC}"/>
    <dgm:cxn modelId="{AE4598FA-E70F-4004-82A4-42424533DA3B}" srcId="{439FE30A-A6B4-4B7E-B1CA-4276771ADEE9}" destId="{3B69F9E1-0C57-48F0-A045-B0215C66D390}" srcOrd="2" destOrd="0" parTransId="{85F7BC10-4394-4CA9-BA6F-A73841DBBB89}" sibTransId="{D040D2C6-CB8F-4442-B2F6-8DCE26218A66}"/>
    <dgm:cxn modelId="{3CEBD3A4-33DA-4D76-B24A-3B91217F4A43}" type="presParOf" srcId="{64E757E0-98B7-41AC-90E3-CDAF0D0F68BB}" destId="{8AA94693-721A-44A0-8C96-F46CD97B5605}" srcOrd="0" destOrd="0" presId="urn:microsoft.com/office/officeart/2018/2/layout/IconVerticalSolidList"/>
    <dgm:cxn modelId="{B783060E-9C87-411C-A70E-0C7106B0BFB5}" type="presParOf" srcId="{8AA94693-721A-44A0-8C96-F46CD97B5605}" destId="{EC643CDE-FD12-404B-A5CD-ED36A4983131}" srcOrd="0" destOrd="0" presId="urn:microsoft.com/office/officeart/2018/2/layout/IconVerticalSolidList"/>
    <dgm:cxn modelId="{584A9DF7-0F61-44CB-8294-A6C6FABDD697}" type="presParOf" srcId="{8AA94693-721A-44A0-8C96-F46CD97B5605}" destId="{6B2824E3-B18C-4C1F-9B25-801020C16FF6}" srcOrd="1" destOrd="0" presId="urn:microsoft.com/office/officeart/2018/2/layout/IconVerticalSolidList"/>
    <dgm:cxn modelId="{21357090-15A7-4AA2-96E7-57258E54731E}" type="presParOf" srcId="{8AA94693-721A-44A0-8C96-F46CD97B5605}" destId="{AD86D826-1B32-4493-B0AD-DEF1348A02CA}" srcOrd="2" destOrd="0" presId="urn:microsoft.com/office/officeart/2018/2/layout/IconVerticalSolidList"/>
    <dgm:cxn modelId="{57641700-8C6B-4BBF-A819-4D24F9C6650C}" type="presParOf" srcId="{8AA94693-721A-44A0-8C96-F46CD97B5605}" destId="{399645E4-D6FC-4C0F-805A-6BBFFFF86D79}" srcOrd="3" destOrd="0" presId="urn:microsoft.com/office/officeart/2018/2/layout/IconVerticalSolidList"/>
    <dgm:cxn modelId="{437AF4A5-9DBA-49D7-A1AE-E3B08CA906AE}" type="presParOf" srcId="{64E757E0-98B7-41AC-90E3-CDAF0D0F68BB}" destId="{1AC07CAF-22F7-4278-95D0-44081F4CFD32}" srcOrd="1" destOrd="0" presId="urn:microsoft.com/office/officeart/2018/2/layout/IconVerticalSolidList"/>
    <dgm:cxn modelId="{9004179D-B83D-44EA-B409-E8AB33FF52C8}" type="presParOf" srcId="{64E757E0-98B7-41AC-90E3-CDAF0D0F68BB}" destId="{7B8D5D46-9555-405A-8773-E1D65AE1320D}" srcOrd="2" destOrd="0" presId="urn:microsoft.com/office/officeart/2018/2/layout/IconVerticalSolidList"/>
    <dgm:cxn modelId="{6AEC7C90-335E-45A6-82D1-CDE1625DB014}" type="presParOf" srcId="{7B8D5D46-9555-405A-8773-E1D65AE1320D}" destId="{80F1FF71-02CC-4A6B-ADDA-C9C838A1BA8B}" srcOrd="0" destOrd="0" presId="urn:microsoft.com/office/officeart/2018/2/layout/IconVerticalSolidList"/>
    <dgm:cxn modelId="{70E8FEB0-A5B9-46DA-BC65-282C57DF17CB}" type="presParOf" srcId="{7B8D5D46-9555-405A-8773-E1D65AE1320D}" destId="{56DCD711-39E3-4EAF-B4FC-351D6EB102F9}" srcOrd="1" destOrd="0" presId="urn:microsoft.com/office/officeart/2018/2/layout/IconVerticalSolidList"/>
    <dgm:cxn modelId="{C4CFE145-FDF0-4428-A6B7-B03F6086A5FA}" type="presParOf" srcId="{7B8D5D46-9555-405A-8773-E1D65AE1320D}" destId="{E65C7256-831D-4A25-B9C5-2B944D22D292}" srcOrd="2" destOrd="0" presId="urn:microsoft.com/office/officeart/2018/2/layout/IconVerticalSolidList"/>
    <dgm:cxn modelId="{7C03AEDF-4579-48BA-A8CE-9CE9490F953D}" type="presParOf" srcId="{7B8D5D46-9555-405A-8773-E1D65AE1320D}" destId="{31CB2848-AC52-4F42-AFD0-72F86582C809}" srcOrd="3" destOrd="0" presId="urn:microsoft.com/office/officeart/2018/2/layout/IconVerticalSolidList"/>
    <dgm:cxn modelId="{B3A1E74A-A9E3-4762-A528-D1E2ACD76AC0}" type="presParOf" srcId="{64E757E0-98B7-41AC-90E3-CDAF0D0F68BB}" destId="{AF571A9B-F189-4939-B3E6-A9FE99ACE331}" srcOrd="3" destOrd="0" presId="urn:microsoft.com/office/officeart/2018/2/layout/IconVerticalSolidList"/>
    <dgm:cxn modelId="{9D6EAB6A-EF95-4D4C-8DE8-C4828ABEA8E5}" type="presParOf" srcId="{64E757E0-98B7-41AC-90E3-CDAF0D0F68BB}" destId="{2174A756-532E-410B-85CF-5C3CB4926C3A}" srcOrd="4" destOrd="0" presId="urn:microsoft.com/office/officeart/2018/2/layout/IconVerticalSolidList"/>
    <dgm:cxn modelId="{8AC5C8DF-D47D-42F7-A076-D229E7BDC924}" type="presParOf" srcId="{2174A756-532E-410B-85CF-5C3CB4926C3A}" destId="{1A36A672-FE3E-42D6-B408-D68517F74496}" srcOrd="0" destOrd="0" presId="urn:microsoft.com/office/officeart/2018/2/layout/IconVerticalSolidList"/>
    <dgm:cxn modelId="{B83865AC-6747-43ED-8B75-A639F2B7CFC6}" type="presParOf" srcId="{2174A756-532E-410B-85CF-5C3CB4926C3A}" destId="{342D44BA-3A20-435C-8ABB-8BB520FD5E5E}" srcOrd="1" destOrd="0" presId="urn:microsoft.com/office/officeart/2018/2/layout/IconVerticalSolidList"/>
    <dgm:cxn modelId="{5D7A24AC-3777-4931-B99D-D2E24138BE3B}" type="presParOf" srcId="{2174A756-532E-410B-85CF-5C3CB4926C3A}" destId="{738E1035-75BB-4407-8B8D-B6F5C05846E6}" srcOrd="2" destOrd="0" presId="urn:microsoft.com/office/officeart/2018/2/layout/IconVerticalSolidList"/>
    <dgm:cxn modelId="{4928B9C1-7473-418F-B5CC-69B8225F4786}" type="presParOf" srcId="{2174A756-532E-410B-85CF-5C3CB4926C3A}" destId="{7F1BBC53-5F4E-479D-B935-6B2AB347C920}" srcOrd="3" destOrd="0" presId="urn:microsoft.com/office/officeart/2018/2/layout/IconVerticalSolidList"/>
    <dgm:cxn modelId="{3794A95B-A42E-457E-8CAB-C8C6382C14A9}" type="presParOf" srcId="{64E757E0-98B7-41AC-90E3-CDAF0D0F68BB}" destId="{DE4AA33D-05DE-44E4-AFDC-3D81C3606B1B}" srcOrd="5" destOrd="0" presId="urn:microsoft.com/office/officeart/2018/2/layout/IconVerticalSolidList"/>
    <dgm:cxn modelId="{3A765FD0-2B25-46D3-B676-BE6AEA933EE7}" type="presParOf" srcId="{64E757E0-98B7-41AC-90E3-CDAF0D0F68BB}" destId="{523126D6-5ACB-4154-B6F1-2227BA1E83FD}" srcOrd="6" destOrd="0" presId="urn:microsoft.com/office/officeart/2018/2/layout/IconVerticalSolidList"/>
    <dgm:cxn modelId="{6453E50F-B18D-475F-B1BB-222FA7765BE3}" type="presParOf" srcId="{523126D6-5ACB-4154-B6F1-2227BA1E83FD}" destId="{BEA15C51-CB19-4AC1-984E-144E48490844}" srcOrd="0" destOrd="0" presId="urn:microsoft.com/office/officeart/2018/2/layout/IconVerticalSolidList"/>
    <dgm:cxn modelId="{4E34C8DE-5B55-47B0-9A48-D7589CCBEA4C}" type="presParOf" srcId="{523126D6-5ACB-4154-B6F1-2227BA1E83FD}" destId="{6A80495A-F798-4E0B-854F-8BB53CE5970D}" srcOrd="1" destOrd="0" presId="urn:microsoft.com/office/officeart/2018/2/layout/IconVerticalSolidList"/>
    <dgm:cxn modelId="{0561A62E-052A-4514-991E-BEB5AC11DD54}" type="presParOf" srcId="{523126D6-5ACB-4154-B6F1-2227BA1E83FD}" destId="{708D187D-A00B-4AD3-A9DF-E8F6C9BDA089}" srcOrd="2" destOrd="0" presId="urn:microsoft.com/office/officeart/2018/2/layout/IconVerticalSolidList"/>
    <dgm:cxn modelId="{11EBC6B5-99EB-49D2-BFF8-2EB87F6ED0B4}" type="presParOf" srcId="{523126D6-5ACB-4154-B6F1-2227BA1E83FD}" destId="{6DBBCFAC-8220-48EC-AC23-D6EDC4A3F8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5DE5F-C80B-0743-A738-75F8B9B6E98D}">
      <dsp:nvSpPr>
        <dsp:cNvPr id="0" name=""/>
        <dsp:cNvSpPr/>
      </dsp:nvSpPr>
      <dsp:spPr>
        <a:xfrm>
          <a:off x="0" y="333741"/>
          <a:ext cx="82296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How did the rapid expansion of remote work structurally reshape global tech compensation between 2020–2024? </a:t>
          </a:r>
          <a:endParaRPr lang="en-US" sz="2300" kern="1200"/>
        </a:p>
      </dsp:txBody>
      <dsp:txXfrm>
        <a:off x="44664" y="378405"/>
        <a:ext cx="8140272" cy="825612"/>
      </dsp:txXfrm>
    </dsp:sp>
    <dsp:sp modelId="{5385A5E3-E1F0-254F-A825-0176E4ADD3C3}">
      <dsp:nvSpPr>
        <dsp:cNvPr id="0" name=""/>
        <dsp:cNvSpPr/>
      </dsp:nvSpPr>
      <dsp:spPr>
        <a:xfrm>
          <a:off x="0" y="1314921"/>
          <a:ext cx="82296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Is salary growth homogeneous across roles and geographies, or does it exhibit structural divergence? </a:t>
          </a:r>
          <a:endParaRPr lang="en-US" sz="2300" kern="1200"/>
        </a:p>
      </dsp:txBody>
      <dsp:txXfrm>
        <a:off x="44664" y="1359585"/>
        <a:ext cx="8140272" cy="825612"/>
      </dsp:txXfrm>
    </dsp:sp>
    <dsp:sp modelId="{D4113DA3-F7FD-024B-9BF1-BA414AE48F51}">
      <dsp:nvSpPr>
        <dsp:cNvPr id="0" name=""/>
        <dsp:cNvSpPr/>
      </dsp:nvSpPr>
      <dsp:spPr>
        <a:xfrm>
          <a:off x="0" y="2296101"/>
          <a:ext cx="82296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Does remote work enable cross-border purchasing power arbitrage by decoupling compensation from local GDP baselines? </a:t>
          </a:r>
          <a:endParaRPr lang="en-US" sz="2300" kern="1200"/>
        </a:p>
      </dsp:txBody>
      <dsp:txXfrm>
        <a:off x="44664" y="2340765"/>
        <a:ext cx="8140272" cy="825612"/>
      </dsp:txXfrm>
    </dsp:sp>
    <dsp:sp modelId="{81572A93-78D6-5542-A263-90A22BE302C1}">
      <dsp:nvSpPr>
        <dsp:cNvPr id="0" name=""/>
        <dsp:cNvSpPr/>
      </dsp:nvSpPr>
      <dsp:spPr>
        <a:xfrm>
          <a:off x="0" y="3277281"/>
          <a:ext cx="82296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Why must we move beyond averages and examine full distributional shifts to understand labor-market transformation?</a:t>
          </a:r>
          <a:endParaRPr lang="en-US" sz="2300" kern="1200"/>
        </a:p>
      </dsp:txBody>
      <dsp:txXfrm>
        <a:off x="44664" y="3321945"/>
        <a:ext cx="8140272" cy="825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C8C83-9CAF-3640-9F83-DADBB0430256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D805A-3C83-FC47-86FC-A8423DDED97E}">
      <dsp:nvSpPr>
        <dsp:cNvPr id="0" name=""/>
        <dsp:cNvSpPr/>
      </dsp:nvSpPr>
      <dsp:spPr>
        <a:xfrm>
          <a:off x="0" y="531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Integrated </a:t>
          </a:r>
          <a:r>
            <a:rPr lang="en-US" sz="2400" b="1" kern="1200"/>
            <a:t>micro-level salary data</a:t>
          </a:r>
          <a:r>
            <a:rPr lang="en-US" sz="2400" kern="1200"/>
            <a:t> with </a:t>
          </a:r>
          <a:r>
            <a:rPr lang="en-US" sz="2400" b="1" kern="1200"/>
            <a:t>macro-level economic indicators</a:t>
          </a:r>
          <a:r>
            <a:rPr lang="en-US" sz="2400" kern="1200"/>
            <a:t> </a:t>
          </a:r>
        </a:p>
      </dsp:txBody>
      <dsp:txXfrm>
        <a:off x="0" y="531"/>
        <a:ext cx="7886700" cy="870055"/>
      </dsp:txXfrm>
    </dsp:sp>
    <dsp:sp modelId="{86E7E151-A337-CF46-AF2C-FC8A2339D57B}">
      <dsp:nvSpPr>
        <dsp:cNvPr id="0" name=""/>
        <dsp:cNvSpPr/>
      </dsp:nvSpPr>
      <dsp:spPr>
        <a:xfrm>
          <a:off x="0" y="870586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AB477-0CC8-0D47-9D98-0FCBD7A2CB22}">
      <dsp:nvSpPr>
        <dsp:cNvPr id="0" name=""/>
        <dsp:cNvSpPr/>
      </dsp:nvSpPr>
      <dsp:spPr>
        <a:xfrm>
          <a:off x="0" y="870586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Constructed a derived metric: Salary-to-GDP (PPP) Ratio</a:t>
          </a:r>
        </a:p>
      </dsp:txBody>
      <dsp:txXfrm>
        <a:off x="0" y="870586"/>
        <a:ext cx="7886700" cy="870055"/>
      </dsp:txXfrm>
    </dsp:sp>
    <dsp:sp modelId="{FCB06BE2-724A-9E4F-A1CB-F7BF192B65F2}">
      <dsp:nvSpPr>
        <dsp:cNvPr id="0" name=""/>
        <dsp:cNvSpPr/>
      </dsp:nvSpPr>
      <dsp:spPr>
        <a:xfrm>
          <a:off x="0" y="1740641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DC5EC-6A30-4844-9285-D6A240E462AB}">
      <dsp:nvSpPr>
        <dsp:cNvPr id="0" name=""/>
        <dsp:cNvSpPr/>
      </dsp:nvSpPr>
      <dsp:spPr>
        <a:xfrm>
          <a:off x="0" y="1740641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Enables structural comparison of compensation relative to national economic baselines </a:t>
          </a:r>
        </a:p>
      </dsp:txBody>
      <dsp:txXfrm>
        <a:off x="0" y="1740641"/>
        <a:ext cx="7886700" cy="870055"/>
      </dsp:txXfrm>
    </dsp:sp>
    <dsp:sp modelId="{47D4D42C-873C-D241-9C99-32ECA41355AB}">
      <dsp:nvSpPr>
        <dsp:cNvPr id="0" name=""/>
        <dsp:cNvSpPr/>
      </dsp:nvSpPr>
      <dsp:spPr>
        <a:xfrm>
          <a:off x="0" y="2610696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5510C-403A-4A48-8A7A-371A0CD2AF7F}">
      <dsp:nvSpPr>
        <dsp:cNvPr id="0" name=""/>
        <dsp:cNvSpPr/>
      </dsp:nvSpPr>
      <dsp:spPr>
        <a:xfrm>
          <a:off x="0" y="2610696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Captures global remote labor-market decoupling </a:t>
          </a:r>
        </a:p>
      </dsp:txBody>
      <dsp:txXfrm>
        <a:off x="0" y="2610696"/>
        <a:ext cx="7886700" cy="870055"/>
      </dsp:txXfrm>
    </dsp:sp>
    <dsp:sp modelId="{C98CE8F1-CC75-E443-82E6-9017AB2BA543}">
      <dsp:nvSpPr>
        <dsp:cNvPr id="0" name=""/>
        <dsp:cNvSpPr/>
      </dsp:nvSpPr>
      <dsp:spPr>
        <a:xfrm>
          <a:off x="0" y="3480751"/>
          <a:ext cx="78867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A51B9-BB25-6343-BE5D-1948AC4A5DB3}">
      <dsp:nvSpPr>
        <dsp:cNvPr id="0" name=""/>
        <dsp:cNvSpPr/>
      </dsp:nvSpPr>
      <dsp:spPr>
        <a:xfrm>
          <a:off x="0" y="3480751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Multi-year window (2020–2024) allows post-pandemic temporal analysis </a:t>
          </a:r>
        </a:p>
      </dsp:txBody>
      <dsp:txXfrm>
        <a:off x="0" y="3480751"/>
        <a:ext cx="7886700" cy="8700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43CDE-FD12-404B-A5CD-ED36A4983131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824E3-B18C-4C1F-9B25-801020C16FF6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645E4-D6FC-4C0F-805A-6BBFFFF86D79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Remote work structurally repriced global technical labor, reshaping compensation patterns across experience levels and geographies</a:t>
          </a:r>
        </a:p>
      </dsp:txBody>
      <dsp:txXfrm>
        <a:off x="1099610" y="1878"/>
        <a:ext cx="7129989" cy="952043"/>
      </dsp:txXfrm>
    </dsp:sp>
    <dsp:sp modelId="{80F1FF71-02CC-4A6B-ADDA-C9C838A1BA8B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CD711-39E3-4EAF-B4FC-351D6EB102F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B2848-AC52-4F42-AFD0-72F86582C809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Salary growth was concentrated in upper distribution tiers, indicating divergence rather than uniform uplift</a:t>
          </a:r>
        </a:p>
      </dsp:txBody>
      <dsp:txXfrm>
        <a:off x="1099610" y="1191932"/>
        <a:ext cx="7129989" cy="952043"/>
      </dsp:txXfrm>
    </dsp:sp>
    <dsp:sp modelId="{1A36A672-FE3E-42D6-B408-D68517F74496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D44BA-3A20-435C-8ABB-8BB520FD5E5E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BBC53-5F4E-479D-B935-6B2AB347C920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Compensation became increasingly decoupled from national GDP baselines, enabling cross-border purchasing power effects</a:t>
          </a:r>
        </a:p>
      </dsp:txBody>
      <dsp:txXfrm>
        <a:off x="1099610" y="2381986"/>
        <a:ext cx="7129989" cy="952043"/>
      </dsp:txXfrm>
    </dsp:sp>
    <dsp:sp modelId="{BEA15C51-CB19-4AC1-984E-144E48490844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0495A-F798-4E0B-854F-8BB53CE5970D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BCFAC-8220-48EC-AC23-D6EDC4A3F86C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Distribution-aware visualization reveals structural labor-market shifts more effectively than summary statistics alone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.worldbank.org/indicator/NY.GDP.PCAP.PP.CD" TargetMode="External"/><Relationship Id="rId4" Type="http://schemas.openxmlformats.org/officeDocument/2006/relationships/hyperlink" Target="https://www.kaggle.com/datasets/ruchi798/data-science-job-salari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70271-780F-6758-9D31-2264D38D1F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0667" r="2" b="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Tech Pay Shift — Global Compensation &amp; Remote Work Dynamics (2020–2024)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36045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Kaggle DS Salaries + World Bank GDP (PPP)</a:t>
            </a:r>
          </a:p>
          <a:p>
            <a:r>
              <a:rPr lang="en-US" sz="3000" dirty="0">
                <a:solidFill>
                  <a:srgbClr val="FFFFFF"/>
                </a:solidFill>
              </a:rPr>
              <a:t>Interactive Visualization Project</a:t>
            </a:r>
          </a:p>
          <a:p>
            <a:r>
              <a:rPr lang="en-US" sz="2200" dirty="0">
                <a:solidFill>
                  <a:srgbClr val="FFFFFF"/>
                </a:solidFill>
              </a:rPr>
              <a:t>Sahej Vasandi &amp; </a:t>
            </a:r>
            <a:r>
              <a:rPr lang="en-US" sz="2200" dirty="0" err="1">
                <a:solidFill>
                  <a:srgbClr val="FFFFFF"/>
                </a:solidFill>
              </a:rPr>
              <a:t>Yashoneel</a:t>
            </a:r>
            <a:r>
              <a:rPr lang="en-US" sz="2200" dirty="0">
                <a:solidFill>
                  <a:srgbClr val="FFFFFF"/>
                </a:solidFill>
              </a:rPr>
              <a:t> Bingley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graphicFrame>
        <p:nvGraphicFramePr>
          <p:cNvPr id="9" name="Rectangle 4">
            <a:extLst>
              <a:ext uri="{FF2B5EF4-FFF2-40B4-BE49-F238E27FC236}">
                <a16:creationId xmlns:a16="http://schemas.microsoft.com/office/drawing/2014/main" id="{A9A4F06A-80BB-BAB1-0BC3-CE0E6E2ECA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62A4AF-6E90-5FB1-924F-2EF636849C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1000" r="-1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>
                <a:solidFill>
                  <a:schemeClr val="bg1"/>
                </a:solidFill>
              </a:rPr>
              <a:t>The Data</a:t>
            </a:r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681544"/>
            <a:ext cx="7269480" cy="18288"/>
          </a:xfrm>
          <a:custGeom>
            <a:avLst/>
            <a:gdLst>
              <a:gd name="csX0" fmla="*/ 0 w 7269480"/>
              <a:gd name="csY0" fmla="*/ 0 h 18288"/>
              <a:gd name="csX1" fmla="*/ 733557 w 7269480"/>
              <a:gd name="csY1" fmla="*/ 0 h 18288"/>
              <a:gd name="csX2" fmla="*/ 1249029 w 7269480"/>
              <a:gd name="csY2" fmla="*/ 0 h 18288"/>
              <a:gd name="csX3" fmla="*/ 1764501 w 7269480"/>
              <a:gd name="csY3" fmla="*/ 0 h 18288"/>
              <a:gd name="csX4" fmla="*/ 2207278 w 7269480"/>
              <a:gd name="csY4" fmla="*/ 0 h 18288"/>
              <a:gd name="csX5" fmla="*/ 3013530 w 7269480"/>
              <a:gd name="csY5" fmla="*/ 0 h 18288"/>
              <a:gd name="csX6" fmla="*/ 3819781 w 7269480"/>
              <a:gd name="csY6" fmla="*/ 0 h 18288"/>
              <a:gd name="csX7" fmla="*/ 4626033 w 7269480"/>
              <a:gd name="csY7" fmla="*/ 0 h 18288"/>
              <a:gd name="csX8" fmla="*/ 5068810 w 7269480"/>
              <a:gd name="csY8" fmla="*/ 0 h 18288"/>
              <a:gd name="csX9" fmla="*/ 5656977 w 7269480"/>
              <a:gd name="csY9" fmla="*/ 0 h 18288"/>
              <a:gd name="csX10" fmla="*/ 6099755 w 7269480"/>
              <a:gd name="csY10" fmla="*/ 0 h 18288"/>
              <a:gd name="csX11" fmla="*/ 7269480 w 7269480"/>
              <a:gd name="csY11" fmla="*/ 0 h 18288"/>
              <a:gd name="csX12" fmla="*/ 7269480 w 7269480"/>
              <a:gd name="csY12" fmla="*/ 18288 h 18288"/>
              <a:gd name="csX13" fmla="*/ 6463229 w 7269480"/>
              <a:gd name="csY13" fmla="*/ 18288 h 18288"/>
              <a:gd name="csX14" fmla="*/ 6020451 w 7269480"/>
              <a:gd name="csY14" fmla="*/ 18288 h 18288"/>
              <a:gd name="csX15" fmla="*/ 5504979 w 7269480"/>
              <a:gd name="csY15" fmla="*/ 18288 h 18288"/>
              <a:gd name="csX16" fmla="*/ 4989507 w 7269480"/>
              <a:gd name="csY16" fmla="*/ 18288 h 18288"/>
              <a:gd name="csX17" fmla="*/ 4474035 w 7269480"/>
              <a:gd name="csY17" fmla="*/ 18288 h 18288"/>
              <a:gd name="csX18" fmla="*/ 3958562 w 7269480"/>
              <a:gd name="csY18" fmla="*/ 18288 h 18288"/>
              <a:gd name="csX19" fmla="*/ 3443090 w 7269480"/>
              <a:gd name="csY19" fmla="*/ 18288 h 18288"/>
              <a:gd name="csX20" fmla="*/ 2709533 w 7269480"/>
              <a:gd name="csY20" fmla="*/ 18288 h 18288"/>
              <a:gd name="csX21" fmla="*/ 2194061 w 7269480"/>
              <a:gd name="csY21" fmla="*/ 18288 h 18288"/>
              <a:gd name="csX22" fmla="*/ 1751284 w 7269480"/>
              <a:gd name="csY22" fmla="*/ 18288 h 18288"/>
              <a:gd name="csX23" fmla="*/ 1163117 w 7269480"/>
              <a:gd name="csY23" fmla="*/ 18288 h 18288"/>
              <a:gd name="csX24" fmla="*/ 0 w 7269480"/>
              <a:gd name="csY24" fmla="*/ 18288 h 18288"/>
              <a:gd name="csX25" fmla="*/ 0 w 7269480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7269480" h="18288" fill="none" extrusionOk="0">
                <a:moveTo>
                  <a:pt x="0" y="0"/>
                </a:moveTo>
                <a:cubicBezTo>
                  <a:pt x="252138" y="-34015"/>
                  <a:pt x="430162" y="27723"/>
                  <a:pt x="733557" y="0"/>
                </a:cubicBezTo>
                <a:cubicBezTo>
                  <a:pt x="1036952" y="-27723"/>
                  <a:pt x="1017222" y="-19248"/>
                  <a:pt x="1249029" y="0"/>
                </a:cubicBezTo>
                <a:cubicBezTo>
                  <a:pt x="1480836" y="19248"/>
                  <a:pt x="1642747" y="25626"/>
                  <a:pt x="1764501" y="0"/>
                </a:cubicBezTo>
                <a:cubicBezTo>
                  <a:pt x="1886255" y="-25626"/>
                  <a:pt x="2079425" y="-7842"/>
                  <a:pt x="2207278" y="0"/>
                </a:cubicBezTo>
                <a:cubicBezTo>
                  <a:pt x="2335131" y="7842"/>
                  <a:pt x="2681832" y="37713"/>
                  <a:pt x="3013530" y="0"/>
                </a:cubicBezTo>
                <a:cubicBezTo>
                  <a:pt x="3345228" y="-37713"/>
                  <a:pt x="3481883" y="38779"/>
                  <a:pt x="3819781" y="0"/>
                </a:cubicBezTo>
                <a:cubicBezTo>
                  <a:pt x="4157679" y="-38779"/>
                  <a:pt x="4319607" y="-32632"/>
                  <a:pt x="4626033" y="0"/>
                </a:cubicBezTo>
                <a:cubicBezTo>
                  <a:pt x="4932459" y="32632"/>
                  <a:pt x="4944182" y="17568"/>
                  <a:pt x="5068810" y="0"/>
                </a:cubicBezTo>
                <a:cubicBezTo>
                  <a:pt x="5193438" y="-17568"/>
                  <a:pt x="5378174" y="-16107"/>
                  <a:pt x="5656977" y="0"/>
                </a:cubicBezTo>
                <a:cubicBezTo>
                  <a:pt x="5935780" y="16107"/>
                  <a:pt x="5910190" y="-15070"/>
                  <a:pt x="6099755" y="0"/>
                </a:cubicBezTo>
                <a:cubicBezTo>
                  <a:pt x="6289320" y="15070"/>
                  <a:pt x="6900837" y="-32203"/>
                  <a:pt x="7269480" y="0"/>
                </a:cubicBezTo>
                <a:cubicBezTo>
                  <a:pt x="7268614" y="7958"/>
                  <a:pt x="7270034" y="12943"/>
                  <a:pt x="7269480" y="18288"/>
                </a:cubicBezTo>
                <a:cubicBezTo>
                  <a:pt x="7078692" y="32307"/>
                  <a:pt x="6750249" y="10617"/>
                  <a:pt x="6463229" y="18288"/>
                </a:cubicBezTo>
                <a:cubicBezTo>
                  <a:pt x="6176209" y="25959"/>
                  <a:pt x="6203666" y="39135"/>
                  <a:pt x="6020451" y="18288"/>
                </a:cubicBezTo>
                <a:cubicBezTo>
                  <a:pt x="5837236" y="-2559"/>
                  <a:pt x="5688034" y="-3388"/>
                  <a:pt x="5504979" y="18288"/>
                </a:cubicBezTo>
                <a:cubicBezTo>
                  <a:pt x="5321924" y="39964"/>
                  <a:pt x="5191313" y="7061"/>
                  <a:pt x="4989507" y="18288"/>
                </a:cubicBezTo>
                <a:cubicBezTo>
                  <a:pt x="4787701" y="29515"/>
                  <a:pt x="4612238" y="34989"/>
                  <a:pt x="4474035" y="18288"/>
                </a:cubicBezTo>
                <a:cubicBezTo>
                  <a:pt x="4335832" y="1587"/>
                  <a:pt x="4094545" y="27267"/>
                  <a:pt x="3958562" y="18288"/>
                </a:cubicBezTo>
                <a:cubicBezTo>
                  <a:pt x="3822579" y="9309"/>
                  <a:pt x="3646287" y="-1530"/>
                  <a:pt x="3443090" y="18288"/>
                </a:cubicBezTo>
                <a:cubicBezTo>
                  <a:pt x="3239893" y="38106"/>
                  <a:pt x="3075699" y="9041"/>
                  <a:pt x="2709533" y="18288"/>
                </a:cubicBezTo>
                <a:cubicBezTo>
                  <a:pt x="2343367" y="27535"/>
                  <a:pt x="2428918" y="31018"/>
                  <a:pt x="2194061" y="18288"/>
                </a:cubicBezTo>
                <a:cubicBezTo>
                  <a:pt x="1959204" y="5558"/>
                  <a:pt x="1872298" y="17875"/>
                  <a:pt x="1751284" y="18288"/>
                </a:cubicBezTo>
                <a:cubicBezTo>
                  <a:pt x="1630270" y="18701"/>
                  <a:pt x="1443391" y="30083"/>
                  <a:pt x="1163117" y="18288"/>
                </a:cubicBezTo>
                <a:cubicBezTo>
                  <a:pt x="882843" y="6493"/>
                  <a:pt x="581151" y="4375"/>
                  <a:pt x="0" y="18288"/>
                </a:cubicBezTo>
                <a:cubicBezTo>
                  <a:pt x="493" y="10773"/>
                  <a:pt x="610" y="7338"/>
                  <a:pt x="0" y="0"/>
                </a:cubicBezTo>
                <a:close/>
              </a:path>
              <a:path w="7269480" h="18288" stroke="0" extrusionOk="0">
                <a:moveTo>
                  <a:pt x="0" y="0"/>
                </a:moveTo>
                <a:cubicBezTo>
                  <a:pt x="108514" y="-13627"/>
                  <a:pt x="358377" y="-21600"/>
                  <a:pt x="515472" y="0"/>
                </a:cubicBezTo>
                <a:cubicBezTo>
                  <a:pt x="672567" y="21600"/>
                  <a:pt x="740741" y="1149"/>
                  <a:pt x="958250" y="0"/>
                </a:cubicBezTo>
                <a:cubicBezTo>
                  <a:pt x="1175759" y="-1149"/>
                  <a:pt x="1323521" y="-14908"/>
                  <a:pt x="1473722" y="0"/>
                </a:cubicBezTo>
                <a:cubicBezTo>
                  <a:pt x="1623923" y="14908"/>
                  <a:pt x="1999682" y="13812"/>
                  <a:pt x="2134584" y="0"/>
                </a:cubicBezTo>
                <a:cubicBezTo>
                  <a:pt x="2269486" y="-13812"/>
                  <a:pt x="2558748" y="7617"/>
                  <a:pt x="2868140" y="0"/>
                </a:cubicBezTo>
                <a:cubicBezTo>
                  <a:pt x="3177532" y="-7617"/>
                  <a:pt x="3467796" y="3656"/>
                  <a:pt x="3674392" y="0"/>
                </a:cubicBezTo>
                <a:cubicBezTo>
                  <a:pt x="3880988" y="-3656"/>
                  <a:pt x="4101054" y="-15702"/>
                  <a:pt x="4480643" y="0"/>
                </a:cubicBezTo>
                <a:cubicBezTo>
                  <a:pt x="4860232" y="15702"/>
                  <a:pt x="4906779" y="-6670"/>
                  <a:pt x="5068810" y="0"/>
                </a:cubicBezTo>
                <a:cubicBezTo>
                  <a:pt x="5230841" y="6670"/>
                  <a:pt x="5495019" y="-21055"/>
                  <a:pt x="5802367" y="0"/>
                </a:cubicBezTo>
                <a:cubicBezTo>
                  <a:pt x="6109715" y="21055"/>
                  <a:pt x="6248383" y="9802"/>
                  <a:pt x="6463229" y="0"/>
                </a:cubicBezTo>
                <a:cubicBezTo>
                  <a:pt x="6678075" y="-9802"/>
                  <a:pt x="7063233" y="9440"/>
                  <a:pt x="7269480" y="0"/>
                </a:cubicBezTo>
                <a:cubicBezTo>
                  <a:pt x="7268794" y="7700"/>
                  <a:pt x="7268830" y="13442"/>
                  <a:pt x="7269480" y="18288"/>
                </a:cubicBezTo>
                <a:cubicBezTo>
                  <a:pt x="6950939" y="47121"/>
                  <a:pt x="6756956" y="13096"/>
                  <a:pt x="6608618" y="18288"/>
                </a:cubicBezTo>
                <a:cubicBezTo>
                  <a:pt x="6460280" y="23480"/>
                  <a:pt x="6230655" y="-1538"/>
                  <a:pt x="6020451" y="18288"/>
                </a:cubicBezTo>
                <a:cubicBezTo>
                  <a:pt x="5810247" y="38114"/>
                  <a:pt x="5619850" y="-10448"/>
                  <a:pt x="5432284" y="18288"/>
                </a:cubicBezTo>
                <a:cubicBezTo>
                  <a:pt x="5244718" y="47024"/>
                  <a:pt x="4984575" y="27926"/>
                  <a:pt x="4626033" y="18288"/>
                </a:cubicBezTo>
                <a:cubicBezTo>
                  <a:pt x="4267491" y="8650"/>
                  <a:pt x="4240108" y="40106"/>
                  <a:pt x="4110561" y="18288"/>
                </a:cubicBezTo>
                <a:cubicBezTo>
                  <a:pt x="3981014" y="-3530"/>
                  <a:pt x="3580293" y="41911"/>
                  <a:pt x="3377004" y="18288"/>
                </a:cubicBezTo>
                <a:cubicBezTo>
                  <a:pt x="3173715" y="-5335"/>
                  <a:pt x="3043404" y="10731"/>
                  <a:pt x="2934226" y="18288"/>
                </a:cubicBezTo>
                <a:cubicBezTo>
                  <a:pt x="2825048" y="25845"/>
                  <a:pt x="2427024" y="14732"/>
                  <a:pt x="2273365" y="18288"/>
                </a:cubicBezTo>
                <a:cubicBezTo>
                  <a:pt x="2119706" y="21844"/>
                  <a:pt x="1948744" y="43432"/>
                  <a:pt x="1757892" y="18288"/>
                </a:cubicBezTo>
                <a:cubicBezTo>
                  <a:pt x="1567040" y="-6856"/>
                  <a:pt x="1185958" y="10333"/>
                  <a:pt x="951641" y="18288"/>
                </a:cubicBezTo>
                <a:cubicBezTo>
                  <a:pt x="717324" y="26243"/>
                  <a:pt x="448990" y="-7235"/>
                  <a:pt x="0" y="18288"/>
                </a:cubicBezTo>
                <a:cubicBezTo>
                  <a:pt x="-4" y="9861"/>
                  <a:pt x="135" y="6082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04446"/>
            <a:ext cx="7886700" cy="417689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Primary Dataset</a:t>
            </a:r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Kaggle – Data Science Salaries (2020–2024)</a:t>
            </a:r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hlinkClick r:id="rId4"/>
              </a:rPr>
              <a:t>https://www.kaggle.com/datasets/ruchi798/data-science-job-salaries</a:t>
            </a:r>
            <a:endParaRPr lang="en-US" sz="16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4,000+ global tech salary records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Salary (USD standardized)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Experience level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Remote ratio (0%, 50%, 100%)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Company location &amp; employee residence </a:t>
            </a:r>
          </a:p>
          <a:p>
            <a:pPr>
              <a:lnSpc>
                <a:spcPct val="90000"/>
              </a:lnSpc>
              <a:buNone/>
            </a:pP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Macroeconomic Dataset</a:t>
            </a:r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World Bank – GDP per Capita (PPP, Current International $)</a:t>
            </a:r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hlinkClick r:id="rId5"/>
              </a:rPr>
              <a:t>https://data.worldbank.org/indicator/NY.GDP.PCAP.PP.CD</a:t>
            </a:r>
            <a:endParaRPr lang="en-US" sz="16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Country-level GDP adjusted for purchasing power parity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Enables cross-country economic normalization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A2C25E-8013-D716-AE68-B1BA1332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091" b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C2B9C-8D5D-E8BE-FBDA-7E7982BB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Dataset Uniqueness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5A3464-C334-F159-D9A4-AAAF872C0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27172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671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E384F-25BC-44BF-5C3D-743D9E009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Salary Distribution by Experience &amp; Work Mode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E88C0D-60F3-2501-4A4B-AF0376174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868521"/>
            <a:ext cx="8178799" cy="400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1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CC1E4-E7E0-E0CC-070E-DD775BFA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Global Salary-to-GDP (PPP) Ratio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E5973-19E6-377E-A97A-18ECF5F0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76509"/>
            <a:ext cx="8178799" cy="41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9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F978C-42FE-04D8-7DD2-8BB3BB4C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Time-Series Divergence: Remote vs Onsite</a:t>
            </a: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CAF74-C560-F83A-C8E0-E15FD385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31" y="1675227"/>
            <a:ext cx="608193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7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C8519-915C-A854-8070-3FAE10F8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Distribution Evolution (2020–2024)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76384-4108-2979-A44F-D84B8932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97" y="1675227"/>
            <a:ext cx="757620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65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The Remote Compensation Story (2020–2024)</a:t>
            </a:r>
          </a:p>
        </p:txBody>
      </p:sp>
      <p:sp>
        <p:nvSpPr>
          <p:cNvPr id="3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8229600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800" b="1" dirty="0"/>
              <a:t>2020–2021</a:t>
            </a:r>
          </a:p>
          <a:p>
            <a:pPr>
              <a:lnSpc>
                <a:spcPct val="90000"/>
              </a:lnSpc>
              <a:buNone/>
            </a:pPr>
            <a:r>
              <a:rPr lang="en-US" sz="1800" dirty="0"/>
              <a:t>Remote work changed how companies paid tech workers.</a:t>
            </a:r>
          </a:p>
          <a:p>
            <a:pPr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b="1" dirty="0"/>
              <a:t>2022–2023</a:t>
            </a:r>
          </a:p>
          <a:p>
            <a:pPr>
              <a:lnSpc>
                <a:spcPct val="90000"/>
              </a:lnSpc>
              <a:buNone/>
            </a:pPr>
            <a:r>
              <a:rPr lang="en-US" sz="1800" dirty="0"/>
              <a:t>High salaries grew fastest, especially at senior levels.</a:t>
            </a:r>
          </a:p>
          <a:p>
            <a:pPr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b="1" dirty="0"/>
              <a:t>Emerging Markets</a:t>
            </a:r>
          </a:p>
          <a:p>
            <a:pPr>
              <a:lnSpc>
                <a:spcPct val="90000"/>
              </a:lnSpc>
              <a:buNone/>
            </a:pPr>
            <a:r>
              <a:rPr lang="en-US" sz="1800" dirty="0"/>
              <a:t>Remote jobs increased global earning power differences.</a:t>
            </a:r>
          </a:p>
          <a:p>
            <a:pPr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b="1" dirty="0"/>
              <a:t>2024</a:t>
            </a:r>
          </a:p>
          <a:p>
            <a:pPr>
              <a:lnSpc>
                <a:spcPct val="90000"/>
              </a:lnSpc>
              <a:buNone/>
            </a:pPr>
            <a:r>
              <a:rPr lang="en-US" sz="1800" dirty="0"/>
              <a:t>Salary growth slowed and began to stabilize.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Audience &amp; Impact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Who Is This For?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Policy Analysts</a:t>
            </a:r>
            <a:br>
              <a:rPr lang="en-US" sz="1900" dirty="0"/>
            </a:br>
            <a:r>
              <a:rPr lang="en-US" sz="1900" dirty="0"/>
              <a:t>Studying global wage inequality and purchasing power dynamics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Tech Companies</a:t>
            </a:r>
            <a:br>
              <a:rPr lang="en-US" sz="1900" dirty="0"/>
            </a:br>
            <a:r>
              <a:rPr lang="en-US" sz="1900" dirty="0"/>
              <a:t>Designing fair and competitive remote compensation models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Economists &amp; Labor Researchers</a:t>
            </a:r>
            <a:br>
              <a:rPr lang="en-US" sz="1900" dirty="0"/>
            </a:br>
            <a:r>
              <a:rPr lang="en-US" sz="1900" dirty="0"/>
              <a:t>Analyzing globalization and structural wage divergence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Students &amp; Data Practitioners</a:t>
            </a:r>
            <a:br>
              <a:rPr lang="en-US" sz="1900" dirty="0"/>
            </a:br>
            <a:r>
              <a:rPr lang="en-US" sz="1900" dirty="0"/>
              <a:t>Learning how to interpret distributional shifts beyond averages</a:t>
            </a:r>
            <a:br>
              <a:rPr lang="en-US" sz="1900" dirty="0"/>
            </a:br>
            <a:endParaRPr lang="en-US" sz="19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Why It Matters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Remote work is not just a workplace trend, it is reshaping global compensation structures and economic 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/>
              <a:t>Process &amp; Learning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US" sz="1800"/>
              <a:t>Shifted from relying on averages to analyzing full distributions, revealing inequality and upper-tail dynamics that summary statistics hide</a:t>
            </a:r>
          </a:p>
          <a:p>
            <a:r>
              <a:rPr lang="en-US" sz="1800"/>
              <a:t>Applied PPP normalization to connect micro-level salary data with macroeconomic context, enabling meaningful global comparison</a:t>
            </a:r>
          </a:p>
          <a:p>
            <a:r>
              <a:rPr lang="en-US" sz="1800"/>
              <a:t>Designed a structured, multi-tab interactive dashboard to guide users from distribution → geography → time divergence → inequality</a:t>
            </a:r>
          </a:p>
          <a:p>
            <a:r>
              <a:rPr lang="en-US" sz="1800"/>
              <a:t>Learned that effective visualization is not just technical accuracy, it requires narrative clarity, intentional design, and audience awareness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2C9711D1-29CF-78BE-9428-19C1EE5B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0" r="42328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Home Message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52D375-C1CF-9910-83DA-F95D806B41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2032</TotalTime>
  <Words>522</Words>
  <Application>Microsoft Macintosh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Tech Pay Shift — Global Compensation &amp; Remote Work Dynamics (2020–2024)</vt:lpstr>
      <vt:lpstr>Motivation</vt:lpstr>
      <vt:lpstr>The Data</vt:lpstr>
      <vt:lpstr>Dataset Uniqueness</vt:lpstr>
      <vt:lpstr>Salary Distribution by Experience &amp; Work Mode</vt:lpstr>
      <vt:lpstr>Global Salary-to-GDP (PPP) Ratio</vt:lpstr>
      <vt:lpstr>Time-Series Divergence: Remote vs Onsite</vt:lpstr>
      <vt:lpstr>Distribution Evolution (2020–2024)</vt:lpstr>
      <vt:lpstr>The Remote Compensation Story (2020–2024)</vt:lpstr>
      <vt:lpstr>Audience &amp; Impact</vt:lpstr>
      <vt:lpstr>Process &amp; Learning</vt:lpstr>
      <vt:lpstr>Take Home Message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Vasandi, Sahej</cp:lastModifiedBy>
  <cp:revision>6</cp:revision>
  <dcterms:created xsi:type="dcterms:W3CDTF">2013-01-27T09:14:16Z</dcterms:created>
  <dcterms:modified xsi:type="dcterms:W3CDTF">2026-04-28T01:34:11Z</dcterms:modified>
  <cp:category/>
</cp:coreProperties>
</file>